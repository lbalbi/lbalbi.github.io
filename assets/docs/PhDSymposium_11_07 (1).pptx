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97" r:id="rId3"/>
    <p:sldId id="312" r:id="rId4"/>
    <p:sldId id="301" r:id="rId5"/>
    <p:sldId id="285" r:id="rId6"/>
    <p:sldId id="265"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7F78"/>
    <a:srgbClr val="F4EEE4"/>
    <a:srgbClr val="F5F0E7"/>
    <a:srgbClr val="EAE0CE"/>
    <a:srgbClr val="E8DDCA"/>
    <a:srgbClr val="EAE1D0"/>
    <a:srgbClr val="EAE0CD"/>
    <a:srgbClr val="D7B091"/>
    <a:srgbClr val="E6DBC6"/>
    <a:srgbClr val="E6DA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7369" autoAdjust="0"/>
  </p:normalViewPr>
  <p:slideViewPr>
    <p:cSldViewPr snapToGrid="0">
      <p:cViewPr varScale="1">
        <p:scale>
          <a:sx n="52" d="100"/>
          <a:sy n="52" d="100"/>
        </p:scale>
        <p:origin x="179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ACE5C-AA76-443C-91DB-E5D226236BE1}" type="datetimeFigureOut">
              <a:rPr lang="en-GB" smtClean="0"/>
              <a:t>11/07/2025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0152BE-ABC2-44DB-B69E-285151DF6567}" type="slidenum">
              <a:rPr lang="en-GB" smtClean="0"/>
              <a:t>‹#›</a:t>
            </a:fld>
            <a:endParaRPr lang="en-GB"/>
          </a:p>
        </p:txBody>
      </p:sp>
    </p:spTree>
    <p:extLst>
      <p:ext uri="{BB962C8B-B14F-4D97-AF65-F5344CB8AC3E}">
        <p14:creationId xmlns:p14="http://schemas.microsoft.com/office/powerpoint/2010/main" val="3331952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C0152BE-ABC2-44DB-B69E-285151DF6567}" type="slidenum">
              <a:rPr lang="en-GB" smtClean="0"/>
              <a:t>1</a:t>
            </a:fld>
            <a:endParaRPr lang="en-GB"/>
          </a:p>
        </p:txBody>
      </p:sp>
    </p:spTree>
    <p:extLst>
      <p:ext uri="{BB962C8B-B14F-4D97-AF65-F5344CB8AC3E}">
        <p14:creationId xmlns:p14="http://schemas.microsoft.com/office/powerpoint/2010/main" val="3623094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07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Knowledge Graphs are often treated as consistent factual knowledge sources for several applications — but in reality, due to integrating information from heterogeneous sources, they often also introduce contradicting information.</a:t>
            </a:r>
          </a:p>
          <a:p>
            <a:pPr algn="just">
              <a:lnSpc>
                <a:spcPct val="107000"/>
              </a:lnSpc>
              <a:spcAft>
                <a:spcPts val="800"/>
              </a:spcAft>
              <a:buNone/>
            </a:pP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And common KG representation learning is not able to deal with contradictions, so the common approach is to either ignore or eliminate them.</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GB" sz="3200" b="1" u="sng" kern="100" dirty="0">
              <a:effectLst/>
              <a:latin typeface="Aptos" panose="020B0004020202020204" pitchFamily="34" charset="0"/>
              <a:ea typeface="Aptos" panose="020B0004020202020204" pitchFamily="34" charset="0"/>
              <a:cs typeface="Times New Roman" panose="02020603050405020304" pitchFamily="18" charset="0"/>
            </a:endParaRPr>
          </a:p>
          <a:p>
            <a:pPr algn="l">
              <a:lnSpc>
                <a:spcPct val="107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However, not all contradictions mean that a side is ‘wrong’; sometimes, they reflect how real-world knowledge can vary depending on </a:t>
            </a:r>
            <a:r>
              <a:rPr lang="en-GB" sz="2400" b="1" i="1" kern="100" dirty="0">
                <a:effectLst/>
                <a:latin typeface="Aptos" panose="020B0004020202020204" pitchFamily="34" charset="0"/>
                <a:ea typeface="Aptos" panose="020B0004020202020204" pitchFamily="34" charset="0"/>
                <a:cs typeface="Times New Roman" panose="02020603050405020304" pitchFamily="18" charset="0"/>
              </a:rPr>
              <a:t>different points-of-view</a:t>
            </a:r>
            <a:r>
              <a:rPr lang="en-GB" sz="2400" b="1" kern="100" dirty="0">
                <a:effectLst/>
                <a:latin typeface="Aptos" panose="020B0004020202020204" pitchFamily="34" charset="0"/>
                <a:ea typeface="Aptos" panose="020B0004020202020204" pitchFamily="34" charset="0"/>
                <a:cs typeface="Times New Roman" panose="02020603050405020304" pitchFamily="18" charset="0"/>
              </a:rPr>
              <a:t> and context.</a:t>
            </a:r>
            <a:br>
              <a:rPr lang="en-GB" sz="2400" b="1" kern="100" dirty="0">
                <a:effectLst/>
                <a:latin typeface="Aptos" panose="020B0004020202020204" pitchFamily="34" charset="0"/>
                <a:ea typeface="Aptos" panose="020B0004020202020204" pitchFamily="34" charset="0"/>
                <a:cs typeface="Times New Roman" panose="02020603050405020304" pitchFamily="18" charset="0"/>
              </a:rPr>
            </a:b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Let’s look at this example retrieved from </a:t>
            </a:r>
            <a:r>
              <a:rPr lang="en-GB" sz="2400" b="1" kern="100" dirty="0" err="1">
                <a:effectLst/>
                <a:latin typeface="Aptos" panose="020B0004020202020204" pitchFamily="34" charset="0"/>
                <a:ea typeface="Aptos" panose="020B0004020202020204" pitchFamily="34" charset="0"/>
                <a:cs typeface="Times New Roman" panose="02020603050405020304" pitchFamily="18" charset="0"/>
              </a:rPr>
              <a:t>Wikidata</a:t>
            </a:r>
            <a:r>
              <a:rPr lang="en-GB" sz="2400" b="1" kern="100" dirty="0">
                <a:effectLst/>
                <a:latin typeface="Aptos" panose="020B0004020202020204" pitchFamily="34" charset="0"/>
                <a:ea typeface="Aptos" panose="020B0004020202020204" pitchFamily="34" charset="0"/>
                <a:cs typeface="Times New Roman" panose="02020603050405020304" pitchFamily="18" charset="0"/>
              </a:rPr>
              <a:t>, where Jerusalem is linked by the relation </a:t>
            </a:r>
            <a:r>
              <a:rPr lang="en-GB" sz="2400" b="1" kern="100" dirty="0" err="1">
                <a:effectLst/>
                <a:latin typeface="Aptos" panose="020B0004020202020204" pitchFamily="34" charset="0"/>
                <a:ea typeface="Aptos" panose="020B0004020202020204" pitchFamily="34" charset="0"/>
                <a:cs typeface="Times New Roman" panose="02020603050405020304" pitchFamily="18" charset="0"/>
              </a:rPr>
              <a:t>wiki:capitalOf</a:t>
            </a:r>
            <a:r>
              <a:rPr lang="en-GB" sz="2400" b="1" kern="100" dirty="0">
                <a:effectLst/>
                <a:latin typeface="Aptos" panose="020B0004020202020204" pitchFamily="34" charset="0"/>
                <a:ea typeface="Aptos" panose="020B0004020202020204" pitchFamily="34" charset="0"/>
                <a:cs typeface="Times New Roman" panose="02020603050405020304" pitchFamily="18" charset="0"/>
              </a:rPr>
              <a:t> to both the S. of Palestine and Israel. This reflects their ongoing geopolitical conflict where under specific contexts either of these statements can be considered true.</a:t>
            </a:r>
          </a:p>
          <a:p>
            <a:pPr algn="just">
              <a:lnSpc>
                <a:spcPct val="107000"/>
              </a:lnSpc>
              <a:spcAft>
                <a:spcPts val="800"/>
              </a:spcAft>
              <a:buNone/>
            </a:pP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GB" sz="2400" b="1" kern="100" dirty="0">
                <a:effectLst/>
                <a:latin typeface="Aptos" panose="020B0004020202020204" pitchFamily="34" charset="0"/>
                <a:ea typeface="Aptos" panose="020B0004020202020204" pitchFamily="34" charset="0"/>
                <a:cs typeface="Times New Roman" panose="02020603050405020304" pitchFamily="18" charset="0"/>
              </a:rPr>
              <a:t>Ideally, by including these complimentary views on a subject, KGs would be able to represent the real-world more accurately and capture the polyvocality of complex domains – such as science and politics and general knowledge.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80DF472-42BF-40A7-8864-ACF7203927FF}" type="slidenum">
              <a:rPr lang="en-GB" smtClean="0"/>
              <a:t>2</a:t>
            </a:fld>
            <a:endParaRPr lang="en-GB"/>
          </a:p>
        </p:txBody>
      </p:sp>
    </p:spTree>
    <p:extLst>
      <p:ext uri="{BB962C8B-B14F-4D97-AF65-F5344CB8AC3E}">
        <p14:creationId xmlns:p14="http://schemas.microsoft.com/office/powerpoint/2010/main" val="2136213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1F878-D677-44BE-65D8-21A7DBBB0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67A6F-54B4-2D3C-0075-B5D6287A1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3448D-F8E4-3EC1-C34B-CD0529857978}"/>
              </a:ext>
            </a:extLst>
          </p:cNvPr>
          <p:cNvSpPr>
            <a:spLocks noGrp="1"/>
          </p:cNvSpPr>
          <p:nvPr>
            <p:ph type="body" idx="1"/>
          </p:nvPr>
        </p:nvSpPr>
        <p:spPr/>
        <p:txBody>
          <a:bodyPr/>
          <a:lstStyle/>
          <a:p>
            <a:r>
              <a:rPr lang="en-GB" sz="2400" b="1" dirty="0">
                <a:effectLst/>
                <a:latin typeface="Aptos" panose="020B0004020202020204" pitchFamily="34" charset="0"/>
                <a:ea typeface="Aptos" panose="020B0004020202020204" pitchFamily="34" charset="0"/>
                <a:cs typeface="Times New Roman" panose="02020603050405020304" pitchFamily="18" charset="0"/>
              </a:rPr>
              <a:t>But this kind of representation would entail having to tackle some major common assumptions that current KGRL approaches follow,  </a:t>
            </a:r>
          </a:p>
          <a:p>
            <a:endParaRPr lang="en-GB" sz="2400" b="1" dirty="0">
              <a:effectLst/>
              <a:latin typeface="Aptos" panose="020B0004020202020204" pitchFamily="34" charset="0"/>
              <a:ea typeface="Aptos" panose="020B0004020202020204" pitchFamily="34" charset="0"/>
              <a:cs typeface="Times New Roman" panose="02020603050405020304" pitchFamily="18" charset="0"/>
            </a:endParaRPr>
          </a:p>
          <a:p>
            <a:r>
              <a:rPr lang="en-GB" sz="2400" b="1" dirty="0">
                <a:effectLst/>
                <a:latin typeface="Aptos" panose="020B0004020202020204" pitchFamily="34" charset="0"/>
                <a:ea typeface="Aptos" panose="020B0004020202020204" pitchFamily="34" charset="0"/>
                <a:cs typeface="Times New Roman" panose="02020603050405020304" pitchFamily="18" charset="0"/>
              </a:rPr>
              <a:t>such as considering contradictions as logical violations where at least one side is wrong and assuming that proximity, or connectivity, in a KG implies similarity.</a:t>
            </a:r>
            <a:endParaRPr lang="en-GB" sz="2400" dirty="0"/>
          </a:p>
        </p:txBody>
      </p:sp>
      <p:sp>
        <p:nvSpPr>
          <p:cNvPr id="4" name="Slide Number Placeholder 3">
            <a:extLst>
              <a:ext uri="{FF2B5EF4-FFF2-40B4-BE49-F238E27FC236}">
                <a16:creationId xmlns:a16="http://schemas.microsoft.com/office/drawing/2014/main" id="{6DD625EA-6C2C-1731-DFE0-BFEB4F12C871}"/>
              </a:ext>
            </a:extLst>
          </p:cNvPr>
          <p:cNvSpPr>
            <a:spLocks noGrp="1"/>
          </p:cNvSpPr>
          <p:nvPr>
            <p:ph type="sldNum" sz="quarter" idx="5"/>
          </p:nvPr>
        </p:nvSpPr>
        <p:spPr/>
        <p:txBody>
          <a:bodyPr/>
          <a:lstStyle/>
          <a:p>
            <a:fld id="{C80DF472-42BF-40A7-8864-ACF7203927FF}" type="slidenum">
              <a:rPr lang="en-GB" smtClean="0"/>
              <a:t>3</a:t>
            </a:fld>
            <a:endParaRPr lang="en-GB"/>
          </a:p>
        </p:txBody>
      </p:sp>
    </p:spTree>
    <p:extLst>
      <p:ext uri="{BB962C8B-B14F-4D97-AF65-F5344CB8AC3E}">
        <p14:creationId xmlns:p14="http://schemas.microsoft.com/office/powerpoint/2010/main" val="204344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85384-C4A5-DC00-7276-64278B5C7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EFF18-04C9-B305-EF89-258741969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F51A3-C476-85A6-929A-051CE5FF3367}"/>
              </a:ext>
            </a:extLst>
          </p:cNvPr>
          <p:cNvSpPr>
            <a:spLocks noGrp="1"/>
          </p:cNvSpPr>
          <p:nvPr>
            <p:ph type="body" idx="1"/>
          </p:nvPr>
        </p:nvSpPr>
        <p:spPr/>
        <p:txBody>
          <a:bodyPr/>
          <a:lstStyle/>
          <a:p>
            <a:pPr algn="l">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So as said before, two of the domains where it is common to have contradictions stemming from different narratives and where contradictions have been proven to exist are the general and the scientific domain.</a:t>
            </a:r>
          </a:p>
          <a:p>
            <a:pPr>
              <a:buNone/>
            </a:pPr>
            <a:endParaRPr lang="en-GB" sz="1800" b="1"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GB" sz="1800" b="1" dirty="0">
                <a:effectLst/>
                <a:latin typeface="Aptos" panose="020B0004020202020204" pitchFamily="34" charset="0"/>
                <a:ea typeface="Aptos" panose="020B0004020202020204" pitchFamily="34" charset="0"/>
                <a:cs typeface="Times New Roman" panose="02020603050405020304" pitchFamily="18" charset="0"/>
              </a:rPr>
              <a:t>In the scientific domain, we have an example on how there are statements to the Gene Ontology that describe transferase PLGT2 as both having “</a:t>
            </a:r>
            <a:r>
              <a:rPr lang="en-US" sz="1800" b="1" dirty="0">
                <a:effectLst/>
                <a:latin typeface="Aptos" panose="020B0004020202020204" pitchFamily="34" charset="0"/>
                <a:ea typeface="Aptos" panose="020B0004020202020204" pitchFamily="34" charset="0"/>
                <a:cs typeface="Times New Roman" panose="02020603050405020304" pitchFamily="18" charset="0"/>
              </a:rPr>
              <a:t>serine glucosyltransferase activity” </a:t>
            </a:r>
            <a:r>
              <a:rPr lang="en-GB" sz="1800" b="1" dirty="0">
                <a:effectLst/>
                <a:latin typeface="Aptos" panose="020B0004020202020204" pitchFamily="34" charset="0"/>
                <a:ea typeface="Aptos" panose="020B0004020202020204" pitchFamily="34" charset="0"/>
                <a:cs typeface="Times New Roman" panose="02020603050405020304" pitchFamily="18" charset="0"/>
              </a:rPr>
              <a:t>and not having ‘</a:t>
            </a:r>
            <a:r>
              <a:rPr lang="en-US" sz="1800" b="1" dirty="0">
                <a:effectLst/>
                <a:latin typeface="Aptos" panose="020B0004020202020204" pitchFamily="34" charset="0"/>
                <a:ea typeface="Aptos" panose="020B0004020202020204" pitchFamily="34" charset="0"/>
                <a:cs typeface="Times New Roman" panose="02020603050405020304" pitchFamily="18" charset="0"/>
              </a:rPr>
              <a:t>glucosyltransferase activity</a:t>
            </a:r>
            <a:r>
              <a:rPr lang="en-GB" sz="1800" b="1" dirty="0">
                <a:effectLst/>
                <a:latin typeface="Aptos" panose="020B0004020202020204" pitchFamily="34" charset="0"/>
                <a:ea typeface="Aptos" panose="020B0004020202020204" pitchFamily="34" charset="0"/>
                <a:cs typeface="Times New Roman" panose="02020603050405020304" pitchFamily="18" charset="0"/>
              </a:rPr>
              <a:t>’— when the ontology classifies ‘</a:t>
            </a:r>
            <a:r>
              <a:rPr lang="en-US" sz="1800" b="1" dirty="0">
                <a:effectLst/>
                <a:latin typeface="Aptos" panose="020B0004020202020204" pitchFamily="34" charset="0"/>
                <a:ea typeface="Aptos" panose="020B0004020202020204" pitchFamily="34" charset="0"/>
                <a:cs typeface="Times New Roman" panose="02020603050405020304" pitchFamily="18" charset="0"/>
              </a:rPr>
              <a:t>glucosyltransferase activity</a:t>
            </a:r>
            <a:r>
              <a:rPr lang="en-GB" sz="1800" b="1" dirty="0">
                <a:effectLst/>
                <a:latin typeface="Aptos" panose="020B0004020202020204" pitchFamily="34" charset="0"/>
                <a:ea typeface="Aptos" panose="020B0004020202020204" pitchFamily="34" charset="0"/>
                <a:cs typeface="Times New Roman" panose="02020603050405020304" pitchFamily="18" charset="0"/>
              </a:rPr>
              <a:t>’ as being a superclass of “</a:t>
            </a:r>
            <a:r>
              <a:rPr lang="en-US" sz="1800" b="1" dirty="0">
                <a:effectLst/>
                <a:latin typeface="Aptos" panose="020B0004020202020204" pitchFamily="34" charset="0"/>
                <a:ea typeface="Aptos" panose="020B0004020202020204" pitchFamily="34" charset="0"/>
                <a:cs typeface="Times New Roman" panose="02020603050405020304" pitchFamily="18" charset="0"/>
              </a:rPr>
              <a:t>serine glucosyltransferase activity” and therefore including it</a:t>
            </a:r>
            <a:r>
              <a:rPr lang="en-GB" sz="1800" b="1" dirty="0">
                <a:effectLst/>
                <a:latin typeface="Aptos" panose="020B0004020202020204" pitchFamily="34" charset="0"/>
                <a:ea typeface="Aptos" panose="020B0004020202020204" pitchFamily="34" charset="0"/>
                <a:cs typeface="Times New Roman" panose="02020603050405020304" pitchFamily="18" charset="0"/>
              </a:rPr>
              <a:t>.</a:t>
            </a:r>
          </a:p>
          <a:p>
            <a:pPr>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This example is a clear violation of the ontology’s semantics and therefore can be detected with rule-based logics or a reasoner – this is what we call an explicit contradiction. This doesn’t mean that both statements cannot be correct under different experimental conditions;</a:t>
            </a:r>
          </a:p>
          <a:p>
            <a:pPr algn="just">
              <a:lnSpc>
                <a:spcPct val="107000"/>
              </a:lnSpc>
              <a:spcAft>
                <a:spcPts val="800"/>
              </a:spcAft>
              <a:buNone/>
            </a:pPr>
            <a:r>
              <a:rPr lang="en-GB" sz="1800" b="1" dirty="0">
                <a:effectLst/>
                <a:latin typeface="Aptos" panose="020B0004020202020204" pitchFamily="34" charset="0"/>
                <a:ea typeface="Aptos" panose="020B0004020202020204" pitchFamily="34" charset="0"/>
                <a:cs typeface="Times New Roman" panose="02020603050405020304" pitchFamily="18" charset="0"/>
              </a:rPr>
              <a:t>but there is a difference between this explicit contradiction and the general knowledge domain example of Jerusalem </a:t>
            </a: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that will not be detected since there is no actual KG restriction being violated – because in the </a:t>
            </a:r>
            <a:r>
              <a:rPr lang="en-GB" sz="1800" b="1" kern="100" dirty="0" err="1">
                <a:effectLst/>
                <a:latin typeface="Aptos" panose="020B0004020202020204" pitchFamily="34" charset="0"/>
                <a:ea typeface="Aptos" panose="020B0004020202020204" pitchFamily="34" charset="0"/>
                <a:cs typeface="Times New Roman" panose="02020603050405020304" pitchFamily="18" charset="0"/>
              </a:rPr>
              <a:t>Wikidata</a:t>
            </a:r>
            <a:r>
              <a:rPr lang="en-GB" sz="1800" b="1" kern="100" dirty="0">
                <a:effectLst/>
                <a:latin typeface="Aptos" panose="020B0004020202020204" pitchFamily="34" charset="0"/>
                <a:ea typeface="Aptos" panose="020B0004020202020204" pitchFamily="34" charset="0"/>
                <a:cs typeface="Times New Roman" panose="02020603050405020304" pitchFamily="18" charset="0"/>
              </a:rPr>
              <a:t> there is no limit as to how many countries a region or city can belong to – so this is an example of an implicit contradiction.</a:t>
            </a:r>
          </a:p>
          <a:p>
            <a:pPr algn="just">
              <a:lnSpc>
                <a:spcPct val="107000"/>
              </a:lnSpc>
              <a:spcAft>
                <a:spcPts val="800"/>
              </a:spcAft>
              <a:buNone/>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These contradictions require a more complex detection method than just logical reasoning, with the introduction of extra semantics to make the logical violation obvious and allow detection.</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So there is potential in combining a sub-symbolic component with symbolic systems, for example, LLMs with KGs, to introduce the missing semantic context.</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5E4E85B-756B-91DF-322C-585D9A28978E}"/>
              </a:ext>
            </a:extLst>
          </p:cNvPr>
          <p:cNvSpPr>
            <a:spLocks noGrp="1"/>
          </p:cNvSpPr>
          <p:nvPr>
            <p:ph type="sldNum" sz="quarter" idx="5"/>
          </p:nvPr>
        </p:nvSpPr>
        <p:spPr/>
        <p:txBody>
          <a:bodyPr/>
          <a:lstStyle/>
          <a:p>
            <a:fld id="{C80DF472-42BF-40A7-8864-ACF7203927FF}" type="slidenum">
              <a:rPr lang="en-GB" smtClean="0"/>
              <a:t>4</a:t>
            </a:fld>
            <a:endParaRPr lang="en-GB"/>
          </a:p>
        </p:txBody>
      </p:sp>
    </p:spTree>
    <p:extLst>
      <p:ext uri="{BB962C8B-B14F-4D97-AF65-F5344CB8AC3E}">
        <p14:creationId xmlns:p14="http://schemas.microsoft.com/office/powerpoint/2010/main" val="1758477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So given how under-explored the truth-values of contradictions are (namely implicit ones)</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We hypothesize that by developing a neuro-symbolic approach that bridges KGs and LLMs to detect contradictions and model and explore them into KG representations for use in downstream ML tasks, we would be able to perform a study that explores the potential role of contradictions in generating representations.</a:t>
            </a:r>
          </a:p>
        </p:txBody>
      </p:sp>
      <p:sp>
        <p:nvSpPr>
          <p:cNvPr id="4" name="Slide Number Placeholder 3"/>
          <p:cNvSpPr>
            <a:spLocks noGrp="1"/>
          </p:cNvSpPr>
          <p:nvPr>
            <p:ph type="sldNum" sz="quarter" idx="5"/>
          </p:nvPr>
        </p:nvSpPr>
        <p:spPr/>
        <p:txBody>
          <a:bodyPr/>
          <a:lstStyle/>
          <a:p>
            <a:fld id="{C80DF472-42BF-40A7-8864-ACF7203927FF}" type="slidenum">
              <a:rPr lang="en-GB" smtClean="0"/>
              <a:t>5</a:t>
            </a:fld>
            <a:endParaRPr lang="en-GB"/>
          </a:p>
        </p:txBody>
      </p:sp>
    </p:spTree>
    <p:extLst>
      <p:ext uri="{BB962C8B-B14F-4D97-AF65-F5344CB8AC3E}">
        <p14:creationId xmlns:p14="http://schemas.microsoft.com/office/powerpoint/2010/main" val="1034277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7000"/>
              </a:lnSpc>
              <a:spcAft>
                <a:spcPts val="800"/>
              </a:spcAft>
              <a:buNone/>
            </a:pPr>
            <a:r>
              <a:rPr lang="en-GB" sz="1200" b="1" kern="100" dirty="0">
                <a:effectLst/>
                <a:latin typeface="Aptos" panose="020B0004020202020204" pitchFamily="34" charset="0"/>
                <a:ea typeface="Aptos" panose="020B0004020202020204" pitchFamily="34" charset="0"/>
                <a:cs typeface="Times New Roman" panose="02020603050405020304" pitchFamily="18" charset="0"/>
              </a:rPr>
              <a:t>So to support this hypothesis, we’ve designed a framework where we present our main challenge in introducing contradictions onto KGRL</a:t>
            </a:r>
          </a:p>
          <a:p>
            <a:pPr algn="l">
              <a:lnSpc>
                <a:spcPct val="107000"/>
              </a:lnSpc>
              <a:spcAft>
                <a:spcPts val="800"/>
              </a:spcAft>
              <a:buNone/>
            </a:pPr>
            <a:br>
              <a:rPr lang="en-GB" sz="1200" b="1" kern="100" dirty="0">
                <a:effectLst/>
                <a:latin typeface="Aptos" panose="020B0004020202020204" pitchFamily="34" charset="0"/>
                <a:ea typeface="Aptos" panose="020B0004020202020204" pitchFamily="34" charset="0"/>
                <a:cs typeface="Times New Roman" panose="02020603050405020304" pitchFamily="18" charset="0"/>
              </a:rPr>
            </a:br>
            <a:r>
              <a:rPr lang="en-GB" sz="1200" b="1" kern="100" dirty="0">
                <a:effectLst/>
                <a:latin typeface="Aptos" panose="020B0004020202020204" pitchFamily="34" charset="0"/>
                <a:ea typeface="Aptos" panose="020B0004020202020204" pitchFamily="34" charset="0"/>
                <a:cs typeface="Times New Roman" panose="02020603050405020304" pitchFamily="18" charset="0"/>
              </a:rPr>
              <a:t>which is how their </a:t>
            </a:r>
            <a:r>
              <a:rPr lang="en-GB" sz="1200" b="1" kern="100" dirty="0" err="1">
                <a:effectLst/>
                <a:latin typeface="Aptos" panose="020B0004020202020204" pitchFamily="34" charset="0"/>
                <a:ea typeface="Aptos" panose="020B0004020202020204" pitchFamily="34" charset="0"/>
                <a:cs typeface="Times New Roman" panose="02020603050405020304" pitchFamily="18" charset="0"/>
              </a:rPr>
              <a:t>modeling</a:t>
            </a:r>
            <a:r>
              <a:rPr lang="en-GB" sz="1200" b="1" kern="100" dirty="0">
                <a:effectLst/>
                <a:latin typeface="Aptos" panose="020B0004020202020204" pitchFamily="34" charset="0"/>
                <a:ea typeface="Aptos" panose="020B0004020202020204" pitchFamily="34" charset="0"/>
                <a:cs typeface="Times New Roman" panose="02020603050405020304" pitchFamily="18" charset="0"/>
              </a:rPr>
              <a:t> mechanisms will need to distinguish between opposite relations when generating representations for entities involved in conflicts.</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br>
              <a:rPr lang="en-GB" sz="1200" b="1" dirty="0">
                <a:effectLst/>
                <a:latin typeface="Aptos" panose="020B0004020202020204" pitchFamily="34" charset="0"/>
                <a:ea typeface="Aptos" panose="020B0004020202020204" pitchFamily="34" charset="0"/>
                <a:cs typeface="Times New Roman" panose="02020603050405020304" pitchFamily="18" charset="0"/>
              </a:rPr>
            </a:br>
            <a:r>
              <a:rPr lang="en-GB" sz="1200" b="1" dirty="0">
                <a:effectLst/>
                <a:latin typeface="Aptos" panose="020B0004020202020204" pitchFamily="34" charset="0"/>
                <a:ea typeface="Aptos" panose="020B0004020202020204" pitchFamily="34" charset="0"/>
                <a:cs typeface="Times New Roman" panose="02020603050405020304" pitchFamily="18" charset="0"/>
              </a:rPr>
              <a:t>For example in the simplest of cases, with negation-based contradictions, the notion of proximity cannot be transposed from positive </a:t>
            </a:r>
            <a:r>
              <a:rPr lang="en-GB" sz="1200" b="1" dirty="0" err="1">
                <a:effectLst/>
                <a:latin typeface="Aptos" panose="020B0004020202020204" pitchFamily="34" charset="0"/>
                <a:ea typeface="Aptos" panose="020B0004020202020204" pitchFamily="34" charset="0"/>
                <a:cs typeface="Times New Roman" panose="02020603050405020304" pitchFamily="18" charset="0"/>
              </a:rPr>
              <a:t>neighbors</a:t>
            </a:r>
            <a:r>
              <a:rPr lang="en-GB" sz="1200" b="1" dirty="0">
                <a:effectLst/>
                <a:latin typeface="Aptos" panose="020B0004020202020204" pitchFamily="34" charset="0"/>
                <a:ea typeface="Aptos" panose="020B0004020202020204" pitchFamily="34" charset="0"/>
                <a:cs typeface="Times New Roman" panose="02020603050405020304" pitchFamily="18" charset="0"/>
              </a:rPr>
              <a:t> to negative ones.</a:t>
            </a:r>
            <a:endParaRPr lang="en-GB" sz="12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n-GB" sz="1200" b="1" kern="100" dirty="0">
                <a:effectLst/>
                <a:latin typeface="Aptos" panose="020B0004020202020204" pitchFamily="34" charset="0"/>
                <a:ea typeface="Aptos" panose="020B0004020202020204" pitchFamily="34" charset="0"/>
                <a:cs typeface="Times New Roman" panose="02020603050405020304" pitchFamily="18" charset="0"/>
              </a:rPr>
              <a:t>A positive relation should pull </a:t>
            </a:r>
            <a:r>
              <a:rPr lang="en-GB" sz="1200" b="1" kern="100" dirty="0" err="1">
                <a:effectLst/>
                <a:latin typeface="Aptos" panose="020B0004020202020204" pitchFamily="34" charset="0"/>
                <a:ea typeface="Aptos" panose="020B0004020202020204" pitchFamily="34" charset="0"/>
                <a:cs typeface="Times New Roman" panose="02020603050405020304" pitchFamily="18" charset="0"/>
              </a:rPr>
              <a:t>neighbors</a:t>
            </a:r>
            <a:r>
              <a:rPr lang="en-GB" sz="1200" b="1" kern="100" dirty="0">
                <a:effectLst/>
                <a:latin typeface="Aptos" panose="020B0004020202020204" pitchFamily="34" charset="0"/>
                <a:ea typeface="Aptos" panose="020B0004020202020204" pitchFamily="34" charset="0"/>
                <a:cs typeface="Times New Roman" panose="02020603050405020304" pitchFamily="18" charset="0"/>
              </a:rPr>
              <a:t> together while a negative relation should push them apart. Moreover, the different values </a:t>
            </a:r>
            <a:r>
              <a:rPr lang="en-GB" sz="1200" b="1" kern="100" dirty="0" err="1">
                <a:effectLst/>
                <a:latin typeface="Aptos" panose="020B0004020202020204" pitchFamily="34" charset="0"/>
                <a:ea typeface="Aptos" panose="020B0004020202020204" pitchFamily="34" charset="0"/>
                <a:cs typeface="Times New Roman" panose="02020603050405020304" pitchFamily="18" charset="0"/>
              </a:rPr>
              <a:t>neighbors</a:t>
            </a:r>
            <a:r>
              <a:rPr lang="en-GB" sz="1200" b="1" kern="100" dirty="0">
                <a:effectLst/>
                <a:latin typeface="Aptos" panose="020B0004020202020204" pitchFamily="34" charset="0"/>
                <a:ea typeface="Aptos" panose="020B0004020202020204" pitchFamily="34" charset="0"/>
                <a:cs typeface="Times New Roman" panose="02020603050405020304" pitchFamily="18" charset="0"/>
              </a:rPr>
              <a:t> themselves should repel each other.</a:t>
            </a:r>
          </a:p>
          <a:p>
            <a:pPr>
              <a:lnSpc>
                <a:spcPct val="107000"/>
              </a:lnSpc>
              <a:spcAft>
                <a:spcPts val="800"/>
              </a:spcAft>
              <a:buNone/>
            </a:pPr>
            <a:endParaRPr lang="en-GB" sz="12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200" b="1" kern="100" dirty="0">
                <a:effectLst/>
                <a:latin typeface="Aptos" panose="020B0004020202020204" pitchFamily="34" charset="0"/>
                <a:ea typeface="Aptos" panose="020B0004020202020204" pitchFamily="34" charset="0"/>
                <a:cs typeface="Times New Roman" panose="02020603050405020304" pitchFamily="18" charset="0"/>
              </a:rPr>
              <a:t>However, to reach this </a:t>
            </a:r>
            <a:r>
              <a:rPr lang="en-GB" sz="1200" b="1" kern="100" dirty="0" err="1">
                <a:effectLst/>
                <a:latin typeface="Aptos" panose="020B0004020202020204" pitchFamily="34" charset="0"/>
                <a:ea typeface="Aptos" panose="020B0004020202020204" pitchFamily="34" charset="0"/>
                <a:cs typeface="Times New Roman" panose="02020603050405020304" pitchFamily="18" charset="0"/>
              </a:rPr>
              <a:t>modeling</a:t>
            </a:r>
            <a:r>
              <a:rPr lang="en-GB" sz="1200" b="1" kern="100" dirty="0">
                <a:effectLst/>
                <a:latin typeface="Aptos" panose="020B0004020202020204" pitchFamily="34" charset="0"/>
                <a:ea typeface="Aptos" panose="020B0004020202020204" pitchFamily="34" charset="0"/>
                <a:cs typeface="Times New Roman" panose="02020603050405020304" pitchFamily="18" charset="0"/>
              </a:rPr>
              <a:t> step we still need to overcome the challenge of detecting contradictions, namely implicit ones, with the introduction of the extra semantics required for them to be detected.</a:t>
            </a:r>
            <a:endParaRPr lang="en-GB" sz="1200" b="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br>
              <a:rPr lang="en-GB" sz="1200" b="1" kern="100" dirty="0">
                <a:effectLst/>
                <a:latin typeface="Aptos" panose="020B0004020202020204" pitchFamily="34" charset="0"/>
                <a:ea typeface="Aptos" panose="020B0004020202020204" pitchFamily="34" charset="0"/>
                <a:cs typeface="Times New Roman" panose="02020603050405020304" pitchFamily="18" charset="0"/>
              </a:rPr>
            </a:br>
            <a:r>
              <a:rPr lang="en-GB" sz="1200" b="1" kern="100" dirty="0">
                <a:effectLst/>
                <a:latin typeface="Aptos" panose="020B0004020202020204" pitchFamily="34" charset="0"/>
                <a:ea typeface="Aptos" panose="020B0004020202020204" pitchFamily="34" charset="0"/>
                <a:cs typeface="Times New Roman" panose="02020603050405020304" pitchFamily="18" charset="0"/>
              </a:rPr>
              <a:t>Only after tackling these challenges can we compare these approaches against traditional KGRL over different domain use-cases and tasks to study the impact of </a:t>
            </a:r>
            <a:r>
              <a:rPr lang="en-GB" sz="1200" b="1" kern="100" dirty="0" err="1">
                <a:effectLst/>
                <a:latin typeface="Aptos" panose="020B0004020202020204" pitchFamily="34" charset="0"/>
                <a:ea typeface="Aptos" panose="020B0004020202020204" pitchFamily="34" charset="0"/>
                <a:cs typeface="Times New Roman" panose="02020603050405020304" pitchFamily="18" charset="0"/>
              </a:rPr>
              <a:t>modeling</a:t>
            </a:r>
            <a:r>
              <a:rPr lang="en-GB" sz="1200" b="1" kern="100" dirty="0">
                <a:effectLst/>
                <a:latin typeface="Aptos" panose="020B0004020202020204" pitchFamily="34" charset="0"/>
                <a:ea typeface="Aptos" panose="020B0004020202020204" pitchFamily="34" charset="0"/>
                <a:cs typeface="Times New Roman" panose="02020603050405020304" pitchFamily="18" charset="0"/>
              </a:rPr>
              <a:t> contradictions.</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80DF472-42BF-40A7-8864-ACF7203927FF}" type="slidenum">
              <a:rPr lang="en-GB" smtClean="0"/>
              <a:t>6</a:t>
            </a:fld>
            <a:endParaRPr lang="en-GB"/>
          </a:p>
        </p:txBody>
      </p:sp>
    </p:spTree>
    <p:extLst>
      <p:ext uri="{BB962C8B-B14F-4D97-AF65-F5344CB8AC3E}">
        <p14:creationId xmlns:p14="http://schemas.microsoft.com/office/powerpoint/2010/main" val="3672220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Thank you for listening to my presentation and I am very open to any questions, insights or posterior contacts.</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sz="1800" b="1" kern="100" dirty="0">
                <a:effectLst/>
                <a:latin typeface="Aptos" panose="020B0004020202020204" pitchFamily="34" charset="0"/>
                <a:ea typeface="Aptos" panose="020B0004020202020204" pitchFamily="34" charset="0"/>
                <a:cs typeface="Times New Roman" panose="02020603050405020304" pitchFamily="18" charset="0"/>
              </a:rPr>
            </a:br>
            <a:r>
              <a:rPr lang="en-GB" sz="1800" b="1" kern="100" dirty="0">
                <a:effectLst/>
                <a:latin typeface="Aptos" panose="020B0004020202020204" pitchFamily="34" charset="0"/>
                <a:ea typeface="Aptos" panose="020B0004020202020204" pitchFamily="34" charset="0"/>
                <a:cs typeface="Times New Roman" panose="02020603050405020304" pitchFamily="18" charset="0"/>
              </a:rPr>
              <a:t>I would also like to thank my supervisor Catia </a:t>
            </a:r>
            <a:r>
              <a:rPr lang="en-GB" sz="1800" b="1" kern="100" dirty="0" err="1">
                <a:effectLst/>
                <a:latin typeface="Aptos" panose="020B0004020202020204" pitchFamily="34" charset="0"/>
                <a:ea typeface="Aptos" panose="020B0004020202020204" pitchFamily="34" charset="0"/>
                <a:cs typeface="Times New Roman" panose="02020603050405020304" pitchFamily="18" charset="0"/>
              </a:rPr>
              <a:t>Pesquita</a:t>
            </a:r>
            <a:r>
              <a:rPr lang="en-GB" sz="1800" b="1" kern="100" dirty="0">
                <a:effectLst/>
                <a:latin typeface="Aptos" panose="020B0004020202020204" pitchFamily="34" charset="0"/>
                <a:ea typeface="Aptos" panose="020B0004020202020204" pitchFamily="34" charset="0"/>
                <a:cs typeface="Times New Roman" panose="02020603050405020304" pitchFamily="18" charset="0"/>
              </a:rPr>
              <a:t> and our team at LISEDA for their support of this work.</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GB" b="1" dirty="0"/>
          </a:p>
        </p:txBody>
      </p:sp>
      <p:sp>
        <p:nvSpPr>
          <p:cNvPr id="4" name="Slide Number Placeholder 3"/>
          <p:cNvSpPr>
            <a:spLocks noGrp="1"/>
          </p:cNvSpPr>
          <p:nvPr>
            <p:ph type="sldNum" sz="quarter" idx="5"/>
          </p:nvPr>
        </p:nvSpPr>
        <p:spPr/>
        <p:txBody>
          <a:bodyPr/>
          <a:lstStyle/>
          <a:p>
            <a:fld id="{C80DF472-42BF-40A7-8864-ACF7203927FF}" type="slidenum">
              <a:rPr lang="en-GB" smtClean="0"/>
              <a:t>7</a:t>
            </a:fld>
            <a:endParaRPr lang="en-GB"/>
          </a:p>
        </p:txBody>
      </p:sp>
    </p:spTree>
    <p:extLst>
      <p:ext uri="{BB962C8B-B14F-4D97-AF65-F5344CB8AC3E}">
        <p14:creationId xmlns:p14="http://schemas.microsoft.com/office/powerpoint/2010/main" val="3578857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EDF33-3904-BD31-7DFA-A1F5AF97B8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FE2E6C3-DFDC-5C3D-79D8-783283907F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E345102-CDAF-8F73-D704-2B62C75AFD29}"/>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5" name="Footer Placeholder 4">
            <a:extLst>
              <a:ext uri="{FF2B5EF4-FFF2-40B4-BE49-F238E27FC236}">
                <a16:creationId xmlns:a16="http://schemas.microsoft.com/office/drawing/2014/main" id="{82070F55-D51D-4805-AA14-D76EB93A42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8C1E6E0-556F-45F8-C658-63676A2879BD}"/>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2138095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D427B-63E1-6FCB-2D0C-30C734D02D9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D3693CB-5ACB-1A6D-CF5A-E4A2CC8A96E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3D28ECF-3D72-99B5-A74F-EC5990271DB6}"/>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5" name="Footer Placeholder 4">
            <a:extLst>
              <a:ext uri="{FF2B5EF4-FFF2-40B4-BE49-F238E27FC236}">
                <a16:creationId xmlns:a16="http://schemas.microsoft.com/office/drawing/2014/main" id="{AB06640D-FDAB-BD8D-636A-DECF7E6A34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15E3C5-FD8C-8FD8-05ED-BC8451E88204}"/>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4236958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1F723-CB80-F742-12A4-6DDF9631C16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AD8A1F0-1AAE-3FBF-0313-5D5FC7C9AB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FD6DA75-B0C7-0E8E-15F2-713100877EB7}"/>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5" name="Footer Placeholder 4">
            <a:extLst>
              <a:ext uri="{FF2B5EF4-FFF2-40B4-BE49-F238E27FC236}">
                <a16:creationId xmlns:a16="http://schemas.microsoft.com/office/drawing/2014/main" id="{3D9DCD82-FB5E-FD90-85DD-9953B4287B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EDB62D-13C7-CE0B-8E21-B37B4ECA4D46}"/>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4026728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BCA0B-C3B1-2B00-5A38-2E42E589C01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853678D-3221-936A-A763-F1C88547119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6B88F71-7E0C-E8E6-2FEB-845DFAEDBD7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DC759D2-71A0-135E-5AFB-40060E629162}"/>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6" name="Footer Placeholder 5">
            <a:extLst>
              <a:ext uri="{FF2B5EF4-FFF2-40B4-BE49-F238E27FC236}">
                <a16:creationId xmlns:a16="http://schemas.microsoft.com/office/drawing/2014/main" id="{35ADFE7B-D160-5CAC-CB5B-BE7F257F5C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9EAE409-F7AC-A1EE-98FC-939AD6C6B5A8}"/>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1589188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5C709-A50F-2E1A-0CA5-DFFC306E977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1CA4AEA-2015-D35B-B854-F67F66A27E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A62AC71-6E0D-7146-D7B2-9EB8F9DDEFD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FEC5493-B680-6347-86AF-6A9365D76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C5E2F1-FAFB-A050-E423-B1AF1022051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0ED2F0A-4FFA-E71D-FAA2-F3E0589DD79B}"/>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8" name="Footer Placeholder 7">
            <a:extLst>
              <a:ext uri="{FF2B5EF4-FFF2-40B4-BE49-F238E27FC236}">
                <a16:creationId xmlns:a16="http://schemas.microsoft.com/office/drawing/2014/main" id="{60D5DAA7-5417-2732-8082-E9BA93C3F43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995BD9D-46DC-6C34-1C72-AF4A4FB31254}"/>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312614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A6CE3-47F5-FFAE-36B6-4C501A28C9A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AF40453-080D-ED29-1AF8-2AFC825D39C8}"/>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4" name="Footer Placeholder 3">
            <a:extLst>
              <a:ext uri="{FF2B5EF4-FFF2-40B4-BE49-F238E27FC236}">
                <a16:creationId xmlns:a16="http://schemas.microsoft.com/office/drawing/2014/main" id="{83F7298B-9985-2FC0-E46D-37B79E917D0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C25D162-7912-3DEA-5806-AA7347CD5D6D}"/>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288927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4D5207-242C-0698-C415-32013002508D}"/>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3" name="Footer Placeholder 2">
            <a:extLst>
              <a:ext uri="{FF2B5EF4-FFF2-40B4-BE49-F238E27FC236}">
                <a16:creationId xmlns:a16="http://schemas.microsoft.com/office/drawing/2014/main" id="{29EA3542-BC62-7C33-0ED5-F587F3E4AAF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03A37F0-77CE-E3A5-0B1D-EE38093F4B8D}"/>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248354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1B986-E845-6816-86F4-1398A04DFD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D55D7AC-65E9-2C52-278D-192C52A92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6979362-9BEC-BFB0-9D3F-C1C9EA7A5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9788A9-DF0E-9282-E638-2A360CEC8B3E}"/>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6" name="Footer Placeholder 5">
            <a:extLst>
              <a:ext uri="{FF2B5EF4-FFF2-40B4-BE49-F238E27FC236}">
                <a16:creationId xmlns:a16="http://schemas.microsoft.com/office/drawing/2014/main" id="{6D523FBA-7C7A-E0C6-7F2C-C23717EAA8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643DFBC-2D19-0DA6-9866-B4468D97953E}"/>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86403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603EA-6A17-0D60-AF28-50BD09C534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7BBCFED-1B03-B107-E103-5AA6481232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33949B9-D2D6-583C-3AE3-4CBBD32294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0FED227-1844-BD57-874B-B60C1F47B9F8}"/>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6" name="Footer Placeholder 5">
            <a:extLst>
              <a:ext uri="{FF2B5EF4-FFF2-40B4-BE49-F238E27FC236}">
                <a16:creationId xmlns:a16="http://schemas.microsoft.com/office/drawing/2014/main" id="{62F0006F-DA84-5858-228F-B2AD77A882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825677-E5C1-9B2E-A5E3-436B60A76DA9}"/>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1332177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3BA7-D320-B89B-201B-E33B1938B37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57D6448-06DD-3A9D-DC47-2BBB525232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6FF35A7-CA7C-1C31-D5A3-B340913DB68F}"/>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5" name="Footer Placeholder 4">
            <a:extLst>
              <a:ext uri="{FF2B5EF4-FFF2-40B4-BE49-F238E27FC236}">
                <a16:creationId xmlns:a16="http://schemas.microsoft.com/office/drawing/2014/main" id="{30F33867-28FB-A00E-C970-685869E088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01EF17-028C-0BEE-4A90-3AFB6E6B5466}"/>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1083329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1A864F-7822-01B7-29F0-1B18EEDC012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F06B097-2647-AB86-CEA6-672C1389FC2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FEB8F6C-1452-9F7E-D9FF-55D95BF5AA47}"/>
              </a:ext>
            </a:extLst>
          </p:cNvPr>
          <p:cNvSpPr>
            <a:spLocks noGrp="1"/>
          </p:cNvSpPr>
          <p:nvPr>
            <p:ph type="dt" sz="half" idx="10"/>
          </p:nvPr>
        </p:nvSpPr>
        <p:spPr/>
        <p:txBody>
          <a:bodyPr/>
          <a:lstStyle/>
          <a:p>
            <a:fld id="{D5440F1D-AC4A-45C9-8BB1-CE53FB98264C}" type="datetimeFigureOut">
              <a:rPr lang="en-GB" smtClean="0"/>
              <a:t>11/07/2025</a:t>
            </a:fld>
            <a:endParaRPr lang="en-GB"/>
          </a:p>
        </p:txBody>
      </p:sp>
      <p:sp>
        <p:nvSpPr>
          <p:cNvPr id="5" name="Footer Placeholder 4">
            <a:extLst>
              <a:ext uri="{FF2B5EF4-FFF2-40B4-BE49-F238E27FC236}">
                <a16:creationId xmlns:a16="http://schemas.microsoft.com/office/drawing/2014/main" id="{CED5F3BA-D07A-4E66-C5F2-C87F48F09F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9DB21F-52A0-872B-9C6C-C89296925010}"/>
              </a:ext>
            </a:extLst>
          </p:cNvPr>
          <p:cNvSpPr>
            <a:spLocks noGrp="1"/>
          </p:cNvSpPr>
          <p:nvPr>
            <p:ph type="sldNum" sz="quarter" idx="12"/>
          </p:nvPr>
        </p:nvSpPr>
        <p:spPr/>
        <p:txBody>
          <a:bodyPr/>
          <a:lstStyle/>
          <a:p>
            <a:fld id="{2ED58E4C-FD88-4DA1-96DE-3AE64D59AAE2}" type="slidenum">
              <a:rPr lang="en-GB" smtClean="0"/>
              <a:t>‹#›</a:t>
            </a:fld>
            <a:endParaRPr lang="en-GB"/>
          </a:p>
        </p:txBody>
      </p:sp>
    </p:spTree>
    <p:extLst>
      <p:ext uri="{BB962C8B-B14F-4D97-AF65-F5344CB8AC3E}">
        <p14:creationId xmlns:p14="http://schemas.microsoft.com/office/powerpoint/2010/main" val="763710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65F40-148E-94F6-9A93-D64C733623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C0ABC8D-F95B-67CF-56D7-FA308E8EE4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A04A62C-B91C-AB2D-73A0-58963D2A5C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440F1D-AC4A-45C9-8BB1-CE53FB98264C}" type="datetimeFigureOut">
              <a:rPr lang="en-GB" smtClean="0"/>
              <a:t>11/07/2025</a:t>
            </a:fld>
            <a:endParaRPr lang="en-GB"/>
          </a:p>
        </p:txBody>
      </p:sp>
      <p:sp>
        <p:nvSpPr>
          <p:cNvPr id="5" name="Footer Placeholder 4">
            <a:extLst>
              <a:ext uri="{FF2B5EF4-FFF2-40B4-BE49-F238E27FC236}">
                <a16:creationId xmlns:a16="http://schemas.microsoft.com/office/drawing/2014/main" id="{1DF878A3-80A1-7498-4140-964465F308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7AF3985-CA90-2AB7-2486-2FC947056E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D58E4C-FD88-4DA1-96DE-3AE64D59AAE2}" type="slidenum">
              <a:rPr lang="en-GB" smtClean="0"/>
              <a:t>‹#›</a:t>
            </a:fld>
            <a:endParaRPr lang="en-GB"/>
          </a:p>
        </p:txBody>
      </p:sp>
    </p:spTree>
    <p:extLst>
      <p:ext uri="{BB962C8B-B14F-4D97-AF65-F5344CB8AC3E}">
        <p14:creationId xmlns:p14="http://schemas.microsoft.com/office/powerpoint/2010/main" val="2277509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hdphoto" Target="../media/hdphoto3.wdp"/><Relationship Id="rId1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1.png"/><Relationship Id="rId17" Type="http://schemas.openxmlformats.org/officeDocument/2006/relationships/image" Target="../media/image15.svg"/><Relationship Id="rId2" Type="http://schemas.openxmlformats.org/officeDocument/2006/relationships/notesSlide" Target="../notesSlides/notesSlide2.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7.png"/><Relationship Id="rId11" Type="http://schemas.microsoft.com/office/2007/relationships/hdphoto" Target="../media/hdphoto2.wdp"/><Relationship Id="rId5" Type="http://schemas.openxmlformats.org/officeDocument/2006/relationships/image" Target="../media/image6.svg"/><Relationship Id="rId15" Type="http://schemas.openxmlformats.org/officeDocument/2006/relationships/image" Target="../media/image13.svg"/><Relationship Id="rId10" Type="http://schemas.openxmlformats.org/officeDocument/2006/relationships/image" Target="../media/image10.png"/><Relationship Id="rId19" Type="http://schemas.openxmlformats.org/officeDocument/2006/relationships/image" Target="../media/image17.svg"/><Relationship Id="rId4" Type="http://schemas.openxmlformats.org/officeDocument/2006/relationships/image" Target="../media/image5.png"/><Relationship Id="rId9" Type="http://schemas.microsoft.com/office/2007/relationships/hdphoto" Target="../media/hdphoto1.wdp"/><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jpeg"/><Relationship Id="rId7"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17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016CB47-C4D4-4332-9ED0-DBB916252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oogle Shape;94;p1">
            <a:extLst>
              <a:ext uri="{FF2B5EF4-FFF2-40B4-BE49-F238E27FC236}">
                <a16:creationId xmlns:a16="http://schemas.microsoft.com/office/drawing/2014/main" id="{B19103F6-2C2D-CF6B-B432-D249ECB6DAB5}"/>
              </a:ext>
            </a:extLst>
          </p:cNvPr>
          <p:cNvPicPr preferRelativeResize="0"/>
          <p:nvPr/>
        </p:nvPicPr>
        <p:blipFill>
          <a:blip r:embed="rId3"/>
          <a:stretch>
            <a:fillRect/>
          </a:stretch>
        </p:blipFill>
        <p:spPr>
          <a:xfrm>
            <a:off x="1357251" y="5655383"/>
            <a:ext cx="1736938" cy="948004"/>
          </a:xfrm>
          <a:prstGeom prst="rect">
            <a:avLst/>
          </a:prstGeom>
          <a:noFill/>
        </p:spPr>
      </p:pic>
      <p:pic>
        <p:nvPicPr>
          <p:cNvPr id="8" name="Google Shape;93;p1">
            <a:extLst>
              <a:ext uri="{FF2B5EF4-FFF2-40B4-BE49-F238E27FC236}">
                <a16:creationId xmlns:a16="http://schemas.microsoft.com/office/drawing/2014/main" id="{C393C1BC-09E0-7103-F45C-1C8C3F70DBBE}"/>
              </a:ext>
            </a:extLst>
          </p:cNvPr>
          <p:cNvPicPr preferRelativeResize="0"/>
          <p:nvPr/>
        </p:nvPicPr>
        <p:blipFill>
          <a:blip r:embed="rId4"/>
          <a:stretch>
            <a:fillRect/>
          </a:stretch>
        </p:blipFill>
        <p:spPr>
          <a:xfrm>
            <a:off x="1429361" y="4642413"/>
            <a:ext cx="1581184" cy="865849"/>
          </a:xfrm>
          <a:prstGeom prst="rect">
            <a:avLst/>
          </a:prstGeom>
          <a:noFill/>
        </p:spPr>
      </p:pic>
      <p:pic>
        <p:nvPicPr>
          <p:cNvPr id="9" name="Google Shape;96;p1">
            <a:extLst>
              <a:ext uri="{FF2B5EF4-FFF2-40B4-BE49-F238E27FC236}">
                <a16:creationId xmlns:a16="http://schemas.microsoft.com/office/drawing/2014/main" id="{2D9D28F4-4F07-4F7E-AB81-9B8307028022}"/>
              </a:ext>
            </a:extLst>
          </p:cNvPr>
          <p:cNvPicPr preferRelativeResize="0"/>
          <p:nvPr/>
        </p:nvPicPr>
        <p:blipFill>
          <a:blip r:embed="rId5"/>
          <a:stretch>
            <a:fillRect/>
          </a:stretch>
        </p:blipFill>
        <p:spPr>
          <a:xfrm>
            <a:off x="1429361" y="3811826"/>
            <a:ext cx="1922191" cy="737916"/>
          </a:xfrm>
          <a:prstGeom prst="rect">
            <a:avLst/>
          </a:prstGeom>
          <a:noFill/>
        </p:spPr>
      </p:pic>
      <p:sp>
        <p:nvSpPr>
          <p:cNvPr id="21" name="Rectangle 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C7D0119-38A2-371A-E16B-8462BFA2FEEB}"/>
              </a:ext>
            </a:extLst>
          </p:cNvPr>
          <p:cNvSpPr txBox="1"/>
          <p:nvPr/>
        </p:nvSpPr>
        <p:spPr>
          <a:xfrm>
            <a:off x="5050773" y="3787105"/>
            <a:ext cx="6586915" cy="2437244"/>
          </a:xfrm>
          <a:prstGeom prst="rect">
            <a:avLst/>
          </a:prstGeom>
        </p:spPr>
        <p:txBody>
          <a:bodyPr vert="horz" lIns="91440" tIns="45720" rIns="91440" bIns="45720" rtlCol="0" anchor="ctr">
            <a:normAutofit/>
          </a:bodyPr>
          <a:lstStyle/>
          <a:p>
            <a:pPr>
              <a:lnSpc>
                <a:spcPct val="90000"/>
              </a:lnSpc>
              <a:spcAft>
                <a:spcPts val="600"/>
              </a:spcAft>
            </a:pPr>
            <a:r>
              <a:rPr lang="en-US" sz="2800" b="1" dirty="0"/>
              <a:t>Laura Balbi</a:t>
            </a:r>
          </a:p>
          <a:p>
            <a:pPr>
              <a:lnSpc>
                <a:spcPct val="90000"/>
              </a:lnSpc>
              <a:spcAft>
                <a:spcPts val="600"/>
              </a:spcAft>
            </a:pPr>
            <a:endParaRPr lang="en-US" sz="1200" b="1" dirty="0"/>
          </a:p>
          <a:p>
            <a:pPr>
              <a:lnSpc>
                <a:spcPct val="90000"/>
              </a:lnSpc>
              <a:spcAft>
                <a:spcPts val="600"/>
              </a:spcAft>
            </a:pPr>
            <a:r>
              <a:rPr lang="en-US" sz="2000" b="1" dirty="0"/>
              <a:t>Supervised by Cátia </a:t>
            </a:r>
            <a:r>
              <a:rPr lang="en-US" sz="2000" b="1" dirty="0" err="1"/>
              <a:t>Pesquita</a:t>
            </a:r>
            <a:endParaRPr lang="en-US" b="1" dirty="0"/>
          </a:p>
          <a:p>
            <a:pPr>
              <a:lnSpc>
                <a:spcPct val="90000"/>
              </a:lnSpc>
              <a:spcAft>
                <a:spcPts val="600"/>
              </a:spcAft>
            </a:pPr>
            <a:r>
              <a:rPr lang="en-US" sz="2000" b="1" dirty="0"/>
              <a:t>LASIGE Research Unit, Department of Informatics</a:t>
            </a:r>
          </a:p>
          <a:p>
            <a:pPr>
              <a:lnSpc>
                <a:spcPct val="90000"/>
              </a:lnSpc>
              <a:spcAft>
                <a:spcPts val="600"/>
              </a:spcAft>
            </a:pPr>
            <a:r>
              <a:rPr lang="en-US" sz="2000" b="1" dirty="0"/>
              <a:t>Faculty of Sciences of the University of Lisbon, Portugal</a:t>
            </a:r>
          </a:p>
        </p:txBody>
      </p:sp>
      <p:sp>
        <p:nvSpPr>
          <p:cNvPr id="6" name="TextBox 5">
            <a:extLst>
              <a:ext uri="{FF2B5EF4-FFF2-40B4-BE49-F238E27FC236}">
                <a16:creationId xmlns:a16="http://schemas.microsoft.com/office/drawing/2014/main" id="{1A40B10B-778F-996C-2BFA-BE684EFC0A1C}"/>
              </a:ext>
            </a:extLst>
          </p:cNvPr>
          <p:cNvSpPr txBox="1"/>
          <p:nvPr/>
        </p:nvSpPr>
        <p:spPr>
          <a:xfrm>
            <a:off x="1030758" y="560302"/>
            <a:ext cx="9844626" cy="2437244"/>
          </a:xfrm>
          <a:prstGeom prst="rect">
            <a:avLst/>
          </a:prstGeom>
        </p:spPr>
        <p:txBody>
          <a:bodyPr vert="horz" lIns="91440" tIns="45720" rIns="91440" bIns="45720" rtlCol="0" anchor="ctr">
            <a:normAutofit/>
          </a:bodyPr>
          <a:lstStyle/>
          <a:p>
            <a:pPr algn="ctr">
              <a:lnSpc>
                <a:spcPts val="6000"/>
              </a:lnSpc>
              <a:spcBef>
                <a:spcPct val="0"/>
              </a:spcBef>
              <a:spcAft>
                <a:spcPts val="600"/>
              </a:spcAft>
            </a:pPr>
            <a:r>
              <a:rPr lang="en-US" sz="4000" b="1" dirty="0">
                <a:latin typeface="+mj-lt"/>
                <a:ea typeface="+mj-ea"/>
                <a:cs typeface="+mj-cs"/>
              </a:rPr>
              <a:t>Neuro-Symbolic AI for conflict-aware learning over Knowledge Graphs</a:t>
            </a:r>
          </a:p>
        </p:txBody>
      </p:sp>
    </p:spTree>
    <p:extLst>
      <p:ext uri="{BB962C8B-B14F-4D97-AF65-F5344CB8AC3E}">
        <p14:creationId xmlns:p14="http://schemas.microsoft.com/office/powerpoint/2010/main" val="2651026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F84C8-BC2B-21DD-B8CB-DA36D744BA82}"/>
            </a:ext>
          </a:extLst>
        </p:cNvPr>
        <p:cNvGrpSpPr/>
        <p:nvPr/>
      </p:nvGrpSpPr>
      <p:grpSpPr>
        <a:xfrm>
          <a:off x="0" y="0"/>
          <a:ext cx="0" cy="0"/>
          <a:chOff x="0" y="0"/>
          <a:chExt cx="0" cy="0"/>
        </a:xfrm>
      </p:grpSpPr>
      <p:sp>
        <p:nvSpPr>
          <p:cNvPr id="33" name="Speech Bubble: Rectangle with Corners Rounded 32">
            <a:extLst>
              <a:ext uri="{FF2B5EF4-FFF2-40B4-BE49-F238E27FC236}">
                <a16:creationId xmlns:a16="http://schemas.microsoft.com/office/drawing/2014/main" id="{1934A939-4B81-8312-4267-73A4E5B85B10}"/>
              </a:ext>
            </a:extLst>
          </p:cNvPr>
          <p:cNvSpPr/>
          <p:nvPr/>
        </p:nvSpPr>
        <p:spPr>
          <a:xfrm>
            <a:off x="469549" y="4130208"/>
            <a:ext cx="4607729" cy="1188237"/>
          </a:xfrm>
          <a:prstGeom prst="wedgeRoundRectCallout">
            <a:avLst>
              <a:gd name="adj1" fmla="val 46695"/>
              <a:gd name="adj2" fmla="val 72486"/>
              <a:gd name="adj3" fmla="val 16667"/>
            </a:avLst>
          </a:prstGeom>
          <a:noFill/>
          <a:ln w="28575">
            <a:solidFill>
              <a:srgbClr val="A4B1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descr="A white surface with a white surface&#10;&#10;AI-generated content may be incorrect.">
            <a:extLst>
              <a:ext uri="{FF2B5EF4-FFF2-40B4-BE49-F238E27FC236}">
                <a16:creationId xmlns:a16="http://schemas.microsoft.com/office/drawing/2014/main" id="{3AFA11FC-5CF1-6464-B630-94637CEEA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 y="3741"/>
            <a:ext cx="12192000" cy="1219306"/>
          </a:xfrm>
          <a:prstGeom prst="rect">
            <a:avLst/>
          </a:prstGeom>
        </p:spPr>
      </p:pic>
      <p:sp>
        <p:nvSpPr>
          <p:cNvPr id="3" name="TextBox 2">
            <a:extLst>
              <a:ext uri="{FF2B5EF4-FFF2-40B4-BE49-F238E27FC236}">
                <a16:creationId xmlns:a16="http://schemas.microsoft.com/office/drawing/2014/main" id="{E1B61ED1-4E39-C40E-38FB-977D2D0E51EA}"/>
              </a:ext>
            </a:extLst>
          </p:cNvPr>
          <p:cNvSpPr txBox="1"/>
          <p:nvPr/>
        </p:nvSpPr>
        <p:spPr>
          <a:xfrm>
            <a:off x="687749" y="195443"/>
            <a:ext cx="5282280" cy="461665"/>
          </a:xfrm>
          <a:prstGeom prst="rect">
            <a:avLst/>
          </a:prstGeom>
          <a:noFill/>
        </p:spPr>
        <p:txBody>
          <a:bodyPr wrap="none" rtlCol="0">
            <a:spAutoFit/>
          </a:bodyPr>
          <a:lstStyle/>
          <a:p>
            <a:r>
              <a:rPr lang="en-GB" sz="2400" b="1" dirty="0"/>
              <a:t>Contradictions in Knowledge Graphs</a:t>
            </a:r>
          </a:p>
        </p:txBody>
      </p:sp>
      <p:sp>
        <p:nvSpPr>
          <p:cNvPr id="14" name="Slide Number Placeholder 13">
            <a:extLst>
              <a:ext uri="{FF2B5EF4-FFF2-40B4-BE49-F238E27FC236}">
                <a16:creationId xmlns:a16="http://schemas.microsoft.com/office/drawing/2014/main" id="{DD9D6D1A-FA22-3798-947C-E4B87A72D424}"/>
              </a:ext>
            </a:extLst>
          </p:cNvPr>
          <p:cNvSpPr>
            <a:spLocks noGrp="1"/>
          </p:cNvSpPr>
          <p:nvPr>
            <p:ph type="sldNum" sz="quarter" idx="12"/>
          </p:nvPr>
        </p:nvSpPr>
        <p:spPr/>
        <p:txBody>
          <a:bodyPr/>
          <a:lstStyle/>
          <a:p>
            <a:fld id="{50F50570-0466-4552-84ED-CC5D7290FD57}" type="slidenum">
              <a:rPr lang="en-GB" smtClean="0"/>
              <a:t>2</a:t>
            </a:fld>
            <a:endParaRPr lang="en-GB" dirty="0"/>
          </a:p>
        </p:txBody>
      </p:sp>
      <p:sp>
        <p:nvSpPr>
          <p:cNvPr id="4" name="TextBox 3">
            <a:extLst>
              <a:ext uri="{FF2B5EF4-FFF2-40B4-BE49-F238E27FC236}">
                <a16:creationId xmlns:a16="http://schemas.microsoft.com/office/drawing/2014/main" id="{B341EBE0-C3EE-A4FD-8A49-D4AB5FB3CF35}"/>
              </a:ext>
            </a:extLst>
          </p:cNvPr>
          <p:cNvSpPr txBox="1"/>
          <p:nvPr/>
        </p:nvSpPr>
        <p:spPr>
          <a:xfrm>
            <a:off x="1192910" y="3110518"/>
            <a:ext cx="4274035" cy="646331"/>
          </a:xfrm>
          <a:prstGeom prst="rect">
            <a:avLst/>
          </a:prstGeom>
          <a:noFill/>
          <a:ln w="28575">
            <a:solidFill>
              <a:srgbClr val="D5B091"/>
            </a:solidFill>
            <a:prstDash val="solid"/>
          </a:ln>
        </p:spPr>
        <p:txBody>
          <a:bodyPr wrap="square">
            <a:spAutoFit/>
          </a:bodyPr>
          <a:lstStyle/>
          <a:p>
            <a:pPr algn="just"/>
            <a:r>
              <a:rPr lang="en-GB" b="1" dirty="0"/>
              <a:t>KG Representation Learning </a:t>
            </a:r>
            <a:r>
              <a:rPr lang="en-GB" dirty="0"/>
              <a:t>(</a:t>
            </a:r>
            <a:r>
              <a:rPr lang="en-GB" b="1" dirty="0"/>
              <a:t>KGRL</a:t>
            </a:r>
            <a:r>
              <a:rPr lang="en-GB" dirty="0"/>
              <a:t>)</a:t>
            </a:r>
            <a:r>
              <a:rPr lang="en-GB" b="1" dirty="0"/>
              <a:t> is not able to handle contradictions </a:t>
            </a:r>
            <a:endParaRPr lang="en-GB" dirty="0"/>
          </a:p>
        </p:txBody>
      </p:sp>
      <p:sp>
        <p:nvSpPr>
          <p:cNvPr id="6" name="TextBox 5">
            <a:extLst>
              <a:ext uri="{FF2B5EF4-FFF2-40B4-BE49-F238E27FC236}">
                <a16:creationId xmlns:a16="http://schemas.microsoft.com/office/drawing/2014/main" id="{E3D0124D-94BA-7843-8931-6DA151DEA741}"/>
              </a:ext>
            </a:extLst>
          </p:cNvPr>
          <p:cNvSpPr txBox="1"/>
          <p:nvPr/>
        </p:nvSpPr>
        <p:spPr>
          <a:xfrm>
            <a:off x="1199088" y="1050691"/>
            <a:ext cx="4327952" cy="1138773"/>
          </a:xfrm>
          <a:prstGeom prst="rect">
            <a:avLst/>
          </a:prstGeom>
          <a:noFill/>
        </p:spPr>
        <p:txBody>
          <a:bodyPr wrap="square">
            <a:spAutoFit/>
          </a:bodyPr>
          <a:lstStyle/>
          <a:p>
            <a:pPr algn="just"/>
            <a:r>
              <a:rPr lang="en-GB" sz="1700" dirty="0"/>
              <a:t>Real-world KGs aggregate information from heterogeneous sources (multiple databases, annotators, automated extractors)</a:t>
            </a:r>
          </a:p>
        </p:txBody>
      </p:sp>
      <p:sp>
        <p:nvSpPr>
          <p:cNvPr id="15" name="TextBox 14">
            <a:extLst>
              <a:ext uri="{FF2B5EF4-FFF2-40B4-BE49-F238E27FC236}">
                <a16:creationId xmlns:a16="http://schemas.microsoft.com/office/drawing/2014/main" id="{A715895F-12E5-21B8-2818-697C8AC1F9B7}"/>
              </a:ext>
            </a:extLst>
          </p:cNvPr>
          <p:cNvSpPr txBox="1"/>
          <p:nvPr/>
        </p:nvSpPr>
        <p:spPr>
          <a:xfrm>
            <a:off x="1192910" y="2295716"/>
            <a:ext cx="4327952" cy="615553"/>
          </a:xfrm>
          <a:prstGeom prst="rect">
            <a:avLst/>
          </a:prstGeom>
          <a:noFill/>
        </p:spPr>
        <p:txBody>
          <a:bodyPr wrap="square" rtlCol="0">
            <a:spAutoFit/>
          </a:bodyPr>
          <a:lstStyle/>
          <a:p>
            <a:pPr algn="just"/>
            <a:r>
              <a:rPr lang="en-GB" sz="1700" dirty="0"/>
              <a:t>This leads to conflicting statements and ambiguous entities/events</a:t>
            </a:r>
          </a:p>
        </p:txBody>
      </p:sp>
      <p:pic>
        <p:nvPicPr>
          <p:cNvPr id="34" name="Graphic 33" descr="Exclamation mark outline">
            <a:extLst>
              <a:ext uri="{FF2B5EF4-FFF2-40B4-BE49-F238E27FC236}">
                <a16:creationId xmlns:a16="http://schemas.microsoft.com/office/drawing/2014/main" id="{62F8F55B-D048-12D2-E181-B3C04ADDBD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5710" y="2924720"/>
            <a:ext cx="503398" cy="503398"/>
          </a:xfrm>
          <a:prstGeom prst="rect">
            <a:avLst/>
          </a:prstGeom>
        </p:spPr>
      </p:pic>
      <p:pic>
        <p:nvPicPr>
          <p:cNvPr id="36" name="Graphic 35" descr="Network outline">
            <a:extLst>
              <a:ext uri="{FF2B5EF4-FFF2-40B4-BE49-F238E27FC236}">
                <a16:creationId xmlns:a16="http://schemas.microsoft.com/office/drawing/2014/main" id="{BAC45398-E9C8-CADD-B1B8-574EF012F1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99203" y="1034164"/>
            <a:ext cx="914400" cy="914400"/>
          </a:xfrm>
          <a:prstGeom prst="rect">
            <a:avLst/>
          </a:prstGeom>
        </p:spPr>
      </p:pic>
      <p:sp>
        <p:nvSpPr>
          <p:cNvPr id="45" name="TextBox 44">
            <a:extLst>
              <a:ext uri="{FF2B5EF4-FFF2-40B4-BE49-F238E27FC236}">
                <a16:creationId xmlns:a16="http://schemas.microsoft.com/office/drawing/2014/main" id="{925354AE-361A-59A9-9044-95BF617B2548}"/>
              </a:ext>
            </a:extLst>
          </p:cNvPr>
          <p:cNvSpPr txBox="1"/>
          <p:nvPr/>
        </p:nvSpPr>
        <p:spPr>
          <a:xfrm>
            <a:off x="6264933" y="1113050"/>
            <a:ext cx="3898972" cy="646331"/>
          </a:xfrm>
          <a:prstGeom prst="rect">
            <a:avLst/>
          </a:prstGeom>
          <a:noFill/>
        </p:spPr>
        <p:txBody>
          <a:bodyPr wrap="square">
            <a:spAutoFit/>
          </a:bodyPr>
          <a:lstStyle/>
          <a:p>
            <a:pPr algn="just"/>
            <a:r>
              <a:rPr lang="en-GB" sz="1750" dirty="0"/>
              <a:t>Real-world knowledge inherently includes ambiguity and contradictions</a:t>
            </a:r>
          </a:p>
        </p:txBody>
      </p:sp>
      <p:sp>
        <p:nvSpPr>
          <p:cNvPr id="2" name="TextBox 1">
            <a:extLst>
              <a:ext uri="{FF2B5EF4-FFF2-40B4-BE49-F238E27FC236}">
                <a16:creationId xmlns:a16="http://schemas.microsoft.com/office/drawing/2014/main" id="{E2315D00-26EF-9422-D7D0-6608ACF1C641}"/>
              </a:ext>
            </a:extLst>
          </p:cNvPr>
          <p:cNvSpPr txBox="1"/>
          <p:nvPr/>
        </p:nvSpPr>
        <p:spPr>
          <a:xfrm>
            <a:off x="388892" y="6385023"/>
            <a:ext cx="1056764" cy="307777"/>
          </a:xfrm>
          <a:prstGeom prst="rect">
            <a:avLst/>
          </a:prstGeom>
          <a:noFill/>
        </p:spPr>
        <p:txBody>
          <a:bodyPr wrap="none" rtlCol="0">
            <a:spAutoFit/>
          </a:bodyPr>
          <a:lstStyle/>
          <a:p>
            <a:r>
              <a:rPr lang="en-GB" sz="1400" dirty="0">
                <a:solidFill>
                  <a:schemeClr val="bg2">
                    <a:lumMod val="25000"/>
                  </a:schemeClr>
                </a:solidFill>
              </a:rPr>
              <a:t>Laura Balbi</a:t>
            </a:r>
          </a:p>
        </p:txBody>
      </p:sp>
      <p:sp>
        <p:nvSpPr>
          <p:cNvPr id="10" name="TextBox 9">
            <a:extLst>
              <a:ext uri="{FF2B5EF4-FFF2-40B4-BE49-F238E27FC236}">
                <a16:creationId xmlns:a16="http://schemas.microsoft.com/office/drawing/2014/main" id="{2DE42AB7-11C2-593A-10D4-988DAAA2B68A}"/>
              </a:ext>
            </a:extLst>
          </p:cNvPr>
          <p:cNvSpPr txBox="1"/>
          <p:nvPr/>
        </p:nvSpPr>
        <p:spPr>
          <a:xfrm>
            <a:off x="416885" y="4175990"/>
            <a:ext cx="4783636" cy="646331"/>
          </a:xfrm>
          <a:prstGeom prst="rect">
            <a:avLst/>
          </a:prstGeom>
          <a:noFill/>
        </p:spPr>
        <p:txBody>
          <a:bodyPr wrap="square">
            <a:spAutoFit/>
          </a:bodyPr>
          <a:lstStyle/>
          <a:p>
            <a:r>
              <a:rPr lang="en-GB" sz="1900" dirty="0"/>
              <a:t>&lt; Jerusalem,  wiki: </a:t>
            </a:r>
            <a:r>
              <a:rPr lang="en-GB" sz="1900" dirty="0" err="1"/>
              <a:t>capitalOf</a:t>
            </a:r>
            <a:r>
              <a:rPr lang="en-GB" sz="1900" dirty="0"/>
              <a:t>,  </a:t>
            </a:r>
            <a:r>
              <a:rPr lang="en-GB" sz="1900" b="1" dirty="0"/>
              <a:t>S.</a:t>
            </a:r>
            <a:r>
              <a:rPr lang="en-GB" sz="1900" dirty="0"/>
              <a:t> </a:t>
            </a:r>
            <a:r>
              <a:rPr lang="en-GB" sz="1900" b="1" dirty="0"/>
              <a:t>Palestine </a:t>
            </a:r>
            <a:r>
              <a:rPr lang="en-GB" sz="1900" dirty="0"/>
              <a:t>&gt;</a:t>
            </a:r>
          </a:p>
          <a:p>
            <a:r>
              <a:rPr lang="en-GB" sz="1700" dirty="0"/>
              <a:t>— </a:t>
            </a:r>
            <a:r>
              <a:rPr lang="en-GB" sz="1500" dirty="0"/>
              <a:t>disputed by USA &amp; Israel</a:t>
            </a:r>
          </a:p>
        </p:txBody>
      </p:sp>
      <p:sp>
        <p:nvSpPr>
          <p:cNvPr id="11" name="TextBox 10">
            <a:extLst>
              <a:ext uri="{FF2B5EF4-FFF2-40B4-BE49-F238E27FC236}">
                <a16:creationId xmlns:a16="http://schemas.microsoft.com/office/drawing/2014/main" id="{90105187-FA2D-22F6-A7E4-497EC5AACEDD}"/>
              </a:ext>
            </a:extLst>
          </p:cNvPr>
          <p:cNvSpPr txBox="1"/>
          <p:nvPr/>
        </p:nvSpPr>
        <p:spPr>
          <a:xfrm>
            <a:off x="6264933" y="3025941"/>
            <a:ext cx="4800115" cy="369332"/>
          </a:xfrm>
          <a:prstGeom prst="rect">
            <a:avLst/>
          </a:prstGeom>
          <a:noFill/>
        </p:spPr>
        <p:txBody>
          <a:bodyPr wrap="square">
            <a:spAutoFit/>
          </a:bodyPr>
          <a:lstStyle/>
          <a:p>
            <a:r>
              <a:rPr lang="en-GB" dirty="0"/>
              <a:t>e.g. </a:t>
            </a:r>
            <a:r>
              <a:rPr lang="en-GB" dirty="0" err="1"/>
              <a:t>Wikidata</a:t>
            </a:r>
            <a:r>
              <a:rPr lang="en-GB" sz="1200" dirty="0"/>
              <a:t> </a:t>
            </a:r>
            <a:r>
              <a:rPr lang="en-GB" sz="1400" dirty="0"/>
              <a:t>[1]</a:t>
            </a:r>
            <a:r>
              <a:rPr lang="en-GB" sz="1200" dirty="0"/>
              <a:t>  </a:t>
            </a:r>
            <a:r>
              <a:rPr lang="en-GB" dirty="0"/>
              <a:t>entry for Jerusalem:</a:t>
            </a:r>
          </a:p>
        </p:txBody>
      </p:sp>
      <p:sp>
        <p:nvSpPr>
          <p:cNvPr id="35" name="Speech Bubble: Rectangle with Corners Rounded 34">
            <a:extLst>
              <a:ext uri="{FF2B5EF4-FFF2-40B4-BE49-F238E27FC236}">
                <a16:creationId xmlns:a16="http://schemas.microsoft.com/office/drawing/2014/main" id="{66F25607-6645-A562-35EB-4BEA79C407B4}"/>
              </a:ext>
            </a:extLst>
          </p:cNvPr>
          <p:cNvSpPr/>
          <p:nvPr/>
        </p:nvSpPr>
        <p:spPr>
          <a:xfrm flipH="1">
            <a:off x="7291649" y="4181163"/>
            <a:ext cx="4262954" cy="1188237"/>
          </a:xfrm>
          <a:prstGeom prst="wedgeRoundRectCallout">
            <a:avLst>
              <a:gd name="adj1" fmla="val 46695"/>
              <a:gd name="adj2" fmla="val 72486"/>
              <a:gd name="adj3" fmla="val 16667"/>
            </a:avLst>
          </a:prstGeom>
          <a:noFill/>
          <a:ln w="28575">
            <a:solidFill>
              <a:srgbClr val="E6DA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D39FED14-B8C1-5F4B-1960-1E4B9544A62A}"/>
              </a:ext>
            </a:extLst>
          </p:cNvPr>
          <p:cNvSpPr txBox="1"/>
          <p:nvPr/>
        </p:nvSpPr>
        <p:spPr>
          <a:xfrm>
            <a:off x="9912815" y="6599797"/>
            <a:ext cx="2137653" cy="261610"/>
          </a:xfrm>
          <a:prstGeom prst="rect">
            <a:avLst/>
          </a:prstGeom>
          <a:noFill/>
        </p:spPr>
        <p:txBody>
          <a:bodyPr wrap="square">
            <a:spAutoFit/>
          </a:bodyPr>
          <a:lstStyle/>
          <a:p>
            <a:r>
              <a:rPr lang="en-GB" sz="1100" dirty="0"/>
              <a:t>[1] https://www.wikidata.org/</a:t>
            </a:r>
          </a:p>
        </p:txBody>
      </p:sp>
      <p:sp>
        <p:nvSpPr>
          <p:cNvPr id="38" name="TextBox 37">
            <a:extLst>
              <a:ext uri="{FF2B5EF4-FFF2-40B4-BE49-F238E27FC236}">
                <a16:creationId xmlns:a16="http://schemas.microsoft.com/office/drawing/2014/main" id="{F24A2AE0-B5C7-7559-AE2C-BA0060E43DAF}"/>
              </a:ext>
            </a:extLst>
          </p:cNvPr>
          <p:cNvSpPr txBox="1"/>
          <p:nvPr/>
        </p:nvSpPr>
        <p:spPr>
          <a:xfrm>
            <a:off x="6264934" y="1888527"/>
            <a:ext cx="4007475" cy="923330"/>
          </a:xfrm>
          <a:prstGeom prst="rect">
            <a:avLst/>
          </a:prstGeom>
          <a:noFill/>
        </p:spPr>
        <p:txBody>
          <a:bodyPr wrap="square">
            <a:spAutoFit/>
          </a:bodyPr>
          <a:lstStyle/>
          <a:p>
            <a:pPr algn="just"/>
            <a:r>
              <a:rPr lang="en-GB" sz="1750" dirty="0"/>
              <a:t>Contradictions can </a:t>
            </a:r>
            <a:r>
              <a:rPr lang="en-GB" sz="1750" b="1" dirty="0"/>
              <a:t>reflect multiple views</a:t>
            </a:r>
            <a:r>
              <a:rPr lang="en-GB" sz="1750" dirty="0"/>
              <a:t> valid in their own context/under a given assumption</a:t>
            </a:r>
            <a:endParaRPr lang="en-GB" sz="1750" i="1" dirty="0"/>
          </a:p>
        </p:txBody>
      </p:sp>
      <p:sp>
        <p:nvSpPr>
          <p:cNvPr id="8" name="TextBox 7">
            <a:extLst>
              <a:ext uri="{FF2B5EF4-FFF2-40B4-BE49-F238E27FC236}">
                <a16:creationId xmlns:a16="http://schemas.microsoft.com/office/drawing/2014/main" id="{5FD93E43-96F6-A7F4-D2E1-8E95E5D33CFC}"/>
              </a:ext>
            </a:extLst>
          </p:cNvPr>
          <p:cNvSpPr txBox="1"/>
          <p:nvPr/>
        </p:nvSpPr>
        <p:spPr>
          <a:xfrm>
            <a:off x="7287086" y="4257110"/>
            <a:ext cx="4528548" cy="646331"/>
          </a:xfrm>
          <a:prstGeom prst="rect">
            <a:avLst/>
          </a:prstGeom>
          <a:noFill/>
        </p:spPr>
        <p:txBody>
          <a:bodyPr wrap="square">
            <a:spAutoFit/>
          </a:bodyPr>
          <a:lstStyle/>
          <a:p>
            <a:r>
              <a:rPr lang="en-GB" sz="1900" dirty="0"/>
              <a:t>&lt; Jerusalem,  </a:t>
            </a:r>
            <a:r>
              <a:rPr lang="en-GB" sz="1900" dirty="0" err="1"/>
              <a:t>wiki:capitalOf</a:t>
            </a:r>
            <a:r>
              <a:rPr lang="en-GB" sz="1900" dirty="0"/>
              <a:t>,  </a:t>
            </a:r>
            <a:r>
              <a:rPr lang="en-GB" sz="1900" b="1" dirty="0"/>
              <a:t>Israel </a:t>
            </a:r>
            <a:r>
              <a:rPr lang="en-GB" sz="1900" dirty="0"/>
              <a:t>&gt;</a:t>
            </a:r>
          </a:p>
          <a:p>
            <a:r>
              <a:rPr lang="en-GB" sz="1700" dirty="0"/>
              <a:t>— </a:t>
            </a:r>
            <a:r>
              <a:rPr lang="en-GB" sz="1500" dirty="0"/>
              <a:t>disputed by United Nations</a:t>
            </a:r>
          </a:p>
        </p:txBody>
      </p:sp>
      <p:pic>
        <p:nvPicPr>
          <p:cNvPr id="1026" name="Picture 2">
            <a:extLst>
              <a:ext uri="{FF2B5EF4-FFF2-40B4-BE49-F238E27FC236}">
                <a16:creationId xmlns:a16="http://schemas.microsoft.com/office/drawing/2014/main" id="{A4509CDB-7573-EAE6-57D1-93A46A15E8FA}"/>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a:off x="10380453" y="4823032"/>
            <a:ext cx="973347" cy="867839"/>
          </a:xfrm>
          <a:prstGeom prst="ellipse">
            <a:avLst/>
          </a:prstGeom>
          <a:ln w="63500" cap="rnd">
            <a:solidFill>
              <a:schemeClr val="bg1"/>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descr="1,600+ Palestine Flag Stock Illustrations, Royalty-Free Vector Graphics &amp;  Clip Art - iStock | Qatar palestine flag, Israel palestine flag">
            <a:extLst>
              <a:ext uri="{FF2B5EF4-FFF2-40B4-BE49-F238E27FC236}">
                <a16:creationId xmlns:a16="http://schemas.microsoft.com/office/drawing/2014/main" id="{0219558C-8171-38D6-C77B-AEFCC0325E73}"/>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a:off x="712818" y="4805328"/>
            <a:ext cx="960184" cy="903246"/>
          </a:xfrm>
          <a:prstGeom prst="ellipse">
            <a:avLst/>
          </a:prstGeom>
          <a:ln w="63500" cap="rnd">
            <a:solidFill>
              <a:schemeClr val="bg1"/>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8" name="Picture 17" descr="A person and person standing together&#10;&#10;AI-generated content may be incorrect.">
            <a:extLst>
              <a:ext uri="{FF2B5EF4-FFF2-40B4-BE49-F238E27FC236}">
                <a16:creationId xmlns:a16="http://schemas.microsoft.com/office/drawing/2014/main" id="{55B8CACA-66D1-6837-B4A3-876C58059F58}"/>
              </a:ext>
            </a:extLst>
          </p:cNvPr>
          <p:cNvPicPr>
            <a:picLocks noChangeAspect="1"/>
          </p:cNvPicPr>
          <p:nvPr/>
        </p:nvPicPr>
        <p:blipFill>
          <a:blip r:embed="rId12">
            <a:clrChange>
              <a:clrFrom>
                <a:srgbClr val="FFFEF6"/>
              </a:clrFrom>
              <a:clrTo>
                <a:srgbClr val="FFFEF6">
                  <a:alpha val="0"/>
                </a:srgbClr>
              </a:clrTo>
            </a:clrChange>
            <a:extLst>
              <a:ext uri="{BEBA8EAE-BF5A-486C-A8C5-ECC9F3942E4B}">
                <a14:imgProps xmlns:a14="http://schemas.microsoft.com/office/drawing/2010/main">
                  <a14:imgLayer r:embed="rId13">
                    <a14:imgEffect>
                      <a14:colorTemperature colorTemp="7200"/>
                    </a14:imgEffect>
                  </a14:imgLayer>
                </a14:imgProps>
              </a:ext>
              <a:ext uri="{28A0092B-C50C-407E-A947-70E740481C1C}">
                <a14:useLocalDpi xmlns:a14="http://schemas.microsoft.com/office/drawing/2010/main" val="0"/>
              </a:ext>
            </a:extLst>
          </a:blip>
          <a:stretch>
            <a:fillRect/>
          </a:stretch>
        </p:blipFill>
        <p:spPr>
          <a:xfrm>
            <a:off x="5113355" y="4668537"/>
            <a:ext cx="2137654" cy="2137654"/>
          </a:xfrm>
          <a:prstGeom prst="rect">
            <a:avLst/>
          </a:prstGeom>
        </p:spPr>
      </p:pic>
      <p:pic>
        <p:nvPicPr>
          <p:cNvPr id="20" name="Graphic 19" descr="Users with solid fill">
            <a:extLst>
              <a:ext uri="{FF2B5EF4-FFF2-40B4-BE49-F238E27FC236}">
                <a16:creationId xmlns:a16="http://schemas.microsoft.com/office/drawing/2014/main" id="{4CD5E2A5-390D-56F3-372F-497F103D282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42936" y="1363325"/>
            <a:ext cx="914400" cy="914400"/>
          </a:xfrm>
          <a:prstGeom prst="rect">
            <a:avLst/>
          </a:prstGeom>
        </p:spPr>
      </p:pic>
      <p:pic>
        <p:nvPicPr>
          <p:cNvPr id="22" name="Graphic 21" descr="Chat bubble with solid fill">
            <a:extLst>
              <a:ext uri="{FF2B5EF4-FFF2-40B4-BE49-F238E27FC236}">
                <a16:creationId xmlns:a16="http://schemas.microsoft.com/office/drawing/2014/main" id="{804A49EB-229A-DCFE-9737-DB3282E957B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705173" y="1316046"/>
            <a:ext cx="331424" cy="331424"/>
          </a:xfrm>
          <a:prstGeom prst="rect">
            <a:avLst/>
          </a:prstGeom>
        </p:spPr>
      </p:pic>
      <p:pic>
        <p:nvPicPr>
          <p:cNvPr id="23" name="Graphic 22" descr="Chat bubble with solid fill">
            <a:extLst>
              <a:ext uri="{FF2B5EF4-FFF2-40B4-BE49-F238E27FC236}">
                <a16:creationId xmlns:a16="http://schemas.microsoft.com/office/drawing/2014/main" id="{E35712FB-2BE3-98F1-3374-0BC3BE45B76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flipH="1">
            <a:off x="11577865" y="1390732"/>
            <a:ext cx="288830" cy="250253"/>
          </a:xfrm>
          <a:prstGeom prst="rect">
            <a:avLst/>
          </a:prstGeom>
        </p:spPr>
      </p:pic>
    </p:spTree>
    <p:extLst>
      <p:ext uri="{BB962C8B-B14F-4D97-AF65-F5344CB8AC3E}">
        <p14:creationId xmlns:p14="http://schemas.microsoft.com/office/powerpoint/2010/main" val="372786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 grpId="0" animBg="1"/>
      <p:bldP spid="6" grpId="0"/>
      <p:bldP spid="15" grpId="0"/>
      <p:bldP spid="45" grpId="0"/>
      <p:bldP spid="10" grpId="0"/>
      <p:bldP spid="11" grpId="0"/>
      <p:bldP spid="35" grpId="0" animBg="1"/>
      <p:bldP spid="38"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68A8-91FA-982B-8A65-A96C9F08811D}"/>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3399E7F-226A-490D-8C3C-59224BF6EBF5}"/>
              </a:ext>
            </a:extLst>
          </p:cNvPr>
          <p:cNvSpPr/>
          <p:nvPr/>
        </p:nvSpPr>
        <p:spPr>
          <a:xfrm>
            <a:off x="1824980" y="4356756"/>
            <a:ext cx="3160800" cy="561149"/>
          </a:xfrm>
          <a:prstGeom prst="rect">
            <a:avLst/>
          </a:prstGeom>
          <a:solidFill>
            <a:srgbClr val="E6DBC6"/>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pic>
        <p:nvPicPr>
          <p:cNvPr id="5" name="Picture 4" descr="A white surface with a white surface&#10;&#10;AI-generated content may be incorrect.">
            <a:extLst>
              <a:ext uri="{FF2B5EF4-FFF2-40B4-BE49-F238E27FC236}">
                <a16:creationId xmlns:a16="http://schemas.microsoft.com/office/drawing/2014/main" id="{A4309777-0F58-649C-1695-A38C1D2F1B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 y="3741"/>
            <a:ext cx="12192000" cy="1219306"/>
          </a:xfrm>
          <a:prstGeom prst="rect">
            <a:avLst/>
          </a:prstGeom>
        </p:spPr>
      </p:pic>
      <p:sp>
        <p:nvSpPr>
          <p:cNvPr id="3" name="TextBox 2">
            <a:extLst>
              <a:ext uri="{FF2B5EF4-FFF2-40B4-BE49-F238E27FC236}">
                <a16:creationId xmlns:a16="http://schemas.microsoft.com/office/drawing/2014/main" id="{92CF9EB5-1E23-3741-9E7E-E29410AB03FD}"/>
              </a:ext>
            </a:extLst>
          </p:cNvPr>
          <p:cNvSpPr txBox="1"/>
          <p:nvPr/>
        </p:nvSpPr>
        <p:spPr>
          <a:xfrm>
            <a:off x="687749" y="195443"/>
            <a:ext cx="5282280" cy="461665"/>
          </a:xfrm>
          <a:prstGeom prst="rect">
            <a:avLst/>
          </a:prstGeom>
          <a:noFill/>
        </p:spPr>
        <p:txBody>
          <a:bodyPr wrap="none" rtlCol="0">
            <a:spAutoFit/>
          </a:bodyPr>
          <a:lstStyle/>
          <a:p>
            <a:r>
              <a:rPr lang="en-GB" sz="2400" b="1" dirty="0"/>
              <a:t>Contradictions in Knowledge Graphs</a:t>
            </a:r>
          </a:p>
        </p:txBody>
      </p:sp>
      <p:sp>
        <p:nvSpPr>
          <p:cNvPr id="14" name="Slide Number Placeholder 13">
            <a:extLst>
              <a:ext uri="{FF2B5EF4-FFF2-40B4-BE49-F238E27FC236}">
                <a16:creationId xmlns:a16="http://schemas.microsoft.com/office/drawing/2014/main" id="{360DF5A9-0E78-CF10-AC56-333DB482E184}"/>
              </a:ext>
            </a:extLst>
          </p:cNvPr>
          <p:cNvSpPr>
            <a:spLocks noGrp="1"/>
          </p:cNvSpPr>
          <p:nvPr>
            <p:ph type="sldNum" sz="quarter" idx="12"/>
          </p:nvPr>
        </p:nvSpPr>
        <p:spPr/>
        <p:txBody>
          <a:bodyPr/>
          <a:lstStyle/>
          <a:p>
            <a:fld id="{50F50570-0466-4552-84ED-CC5D7290FD57}" type="slidenum">
              <a:rPr lang="en-GB" smtClean="0"/>
              <a:t>3</a:t>
            </a:fld>
            <a:endParaRPr lang="en-GB"/>
          </a:p>
        </p:txBody>
      </p:sp>
      <p:sp>
        <p:nvSpPr>
          <p:cNvPr id="8" name="Rectangle 7">
            <a:extLst>
              <a:ext uri="{FF2B5EF4-FFF2-40B4-BE49-F238E27FC236}">
                <a16:creationId xmlns:a16="http://schemas.microsoft.com/office/drawing/2014/main" id="{9A4F42D4-2452-AB3D-70B4-AE4881079C8B}"/>
              </a:ext>
            </a:extLst>
          </p:cNvPr>
          <p:cNvSpPr/>
          <p:nvPr/>
        </p:nvSpPr>
        <p:spPr>
          <a:xfrm>
            <a:off x="5475289" y="3377590"/>
            <a:ext cx="4516132" cy="1135363"/>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 name="TextBox 8">
            <a:extLst>
              <a:ext uri="{FF2B5EF4-FFF2-40B4-BE49-F238E27FC236}">
                <a16:creationId xmlns:a16="http://schemas.microsoft.com/office/drawing/2014/main" id="{D5675491-81FE-E20C-C754-2090C028297D}"/>
              </a:ext>
            </a:extLst>
          </p:cNvPr>
          <p:cNvSpPr txBox="1"/>
          <p:nvPr/>
        </p:nvSpPr>
        <p:spPr>
          <a:xfrm>
            <a:off x="5591170" y="3462183"/>
            <a:ext cx="4400251" cy="384721"/>
          </a:xfrm>
          <a:prstGeom prst="rect">
            <a:avLst/>
          </a:prstGeom>
          <a:noFill/>
        </p:spPr>
        <p:txBody>
          <a:bodyPr wrap="square">
            <a:spAutoFit/>
          </a:bodyPr>
          <a:lstStyle/>
          <a:p>
            <a:pPr algn="just"/>
            <a:r>
              <a:rPr lang="en-GB" sz="1900" b="1" dirty="0">
                <a:solidFill>
                  <a:schemeClr val="accent2">
                    <a:lumMod val="50000"/>
                  </a:schemeClr>
                </a:solidFill>
              </a:rPr>
              <a:t>Contradiction            ≥ 1 side is wrong</a:t>
            </a:r>
            <a:endParaRPr lang="en-GB" sz="1900" dirty="0">
              <a:solidFill>
                <a:schemeClr val="accent2">
                  <a:lumMod val="50000"/>
                </a:schemeClr>
              </a:solidFill>
            </a:endParaRPr>
          </a:p>
        </p:txBody>
      </p:sp>
      <p:sp>
        <p:nvSpPr>
          <p:cNvPr id="12" name="TextBox 11">
            <a:extLst>
              <a:ext uri="{FF2B5EF4-FFF2-40B4-BE49-F238E27FC236}">
                <a16:creationId xmlns:a16="http://schemas.microsoft.com/office/drawing/2014/main" id="{64810D88-EAC1-7F54-306E-BE5A499AB78B}"/>
              </a:ext>
            </a:extLst>
          </p:cNvPr>
          <p:cNvSpPr txBox="1"/>
          <p:nvPr/>
        </p:nvSpPr>
        <p:spPr>
          <a:xfrm>
            <a:off x="5380253" y="3814540"/>
            <a:ext cx="4628728" cy="677108"/>
          </a:xfrm>
          <a:prstGeom prst="rect">
            <a:avLst/>
          </a:prstGeom>
          <a:noFill/>
        </p:spPr>
        <p:txBody>
          <a:bodyPr wrap="square">
            <a:spAutoFit/>
          </a:bodyPr>
          <a:lstStyle/>
          <a:p>
            <a:pPr algn="ctr"/>
            <a:r>
              <a:rPr lang="en-GB" sz="1900" dirty="0"/>
              <a:t>(but often both statements are contextually true)</a:t>
            </a:r>
          </a:p>
        </p:txBody>
      </p:sp>
      <p:sp>
        <p:nvSpPr>
          <p:cNvPr id="13" name="TextBox 12">
            <a:extLst>
              <a:ext uri="{FF2B5EF4-FFF2-40B4-BE49-F238E27FC236}">
                <a16:creationId xmlns:a16="http://schemas.microsoft.com/office/drawing/2014/main" id="{282CF3EA-1619-C533-2C79-503CA27898DC}"/>
              </a:ext>
            </a:extLst>
          </p:cNvPr>
          <p:cNvSpPr txBox="1"/>
          <p:nvPr/>
        </p:nvSpPr>
        <p:spPr>
          <a:xfrm>
            <a:off x="5697106" y="4757542"/>
            <a:ext cx="4460309" cy="384721"/>
          </a:xfrm>
          <a:prstGeom prst="rect">
            <a:avLst/>
          </a:prstGeom>
          <a:noFill/>
        </p:spPr>
        <p:txBody>
          <a:bodyPr wrap="square">
            <a:spAutoFit/>
          </a:bodyPr>
          <a:lstStyle/>
          <a:p>
            <a:r>
              <a:rPr lang="en-GB" sz="1900" b="1" dirty="0">
                <a:solidFill>
                  <a:schemeClr val="accent2">
                    <a:lumMod val="50000"/>
                  </a:schemeClr>
                </a:solidFill>
              </a:rPr>
              <a:t>Proximity = similarity/relatedness</a:t>
            </a:r>
            <a:endParaRPr lang="en-GB" sz="1900" dirty="0">
              <a:solidFill>
                <a:schemeClr val="accent2">
                  <a:lumMod val="50000"/>
                </a:schemeClr>
              </a:solidFill>
            </a:endParaRPr>
          </a:p>
        </p:txBody>
      </p:sp>
      <p:sp>
        <p:nvSpPr>
          <p:cNvPr id="16" name="TextBox 15">
            <a:extLst>
              <a:ext uri="{FF2B5EF4-FFF2-40B4-BE49-F238E27FC236}">
                <a16:creationId xmlns:a16="http://schemas.microsoft.com/office/drawing/2014/main" id="{697EC57F-A46C-C339-9B61-C6AF6E07DE25}"/>
              </a:ext>
            </a:extLst>
          </p:cNvPr>
          <p:cNvSpPr txBox="1"/>
          <p:nvPr/>
        </p:nvSpPr>
        <p:spPr>
          <a:xfrm>
            <a:off x="5564938" y="5113302"/>
            <a:ext cx="4089040" cy="677108"/>
          </a:xfrm>
          <a:prstGeom prst="rect">
            <a:avLst/>
          </a:prstGeom>
          <a:noFill/>
        </p:spPr>
        <p:txBody>
          <a:bodyPr wrap="square">
            <a:spAutoFit/>
          </a:bodyPr>
          <a:lstStyle/>
          <a:p>
            <a:pPr algn="ctr"/>
            <a:r>
              <a:rPr lang="en-GB" sz="1900" dirty="0"/>
              <a:t>(conflicting edges </a:t>
            </a:r>
            <a:r>
              <a:rPr lang="en-GB" sz="1900" i="1" dirty="0"/>
              <a:t>close</a:t>
            </a:r>
            <a:r>
              <a:rPr lang="en-GB" sz="1900" dirty="0"/>
              <a:t> in the graph will be </a:t>
            </a:r>
            <a:r>
              <a:rPr lang="en-GB" sz="1900" dirty="0" err="1"/>
              <a:t>modeled</a:t>
            </a:r>
            <a:r>
              <a:rPr lang="en-GB" sz="1900" dirty="0"/>
              <a:t> similarly)</a:t>
            </a:r>
          </a:p>
        </p:txBody>
      </p:sp>
      <p:sp>
        <p:nvSpPr>
          <p:cNvPr id="17" name="TextBox 16">
            <a:extLst>
              <a:ext uri="{FF2B5EF4-FFF2-40B4-BE49-F238E27FC236}">
                <a16:creationId xmlns:a16="http://schemas.microsoft.com/office/drawing/2014/main" id="{F53BF626-9A13-FCC6-F036-8BA070FBA886}"/>
              </a:ext>
            </a:extLst>
          </p:cNvPr>
          <p:cNvSpPr txBox="1"/>
          <p:nvPr/>
        </p:nvSpPr>
        <p:spPr>
          <a:xfrm>
            <a:off x="2009310" y="4429370"/>
            <a:ext cx="3015275" cy="400110"/>
          </a:xfrm>
          <a:prstGeom prst="rect">
            <a:avLst/>
          </a:prstGeom>
          <a:noFill/>
        </p:spPr>
        <p:txBody>
          <a:bodyPr wrap="square">
            <a:spAutoFit/>
          </a:bodyPr>
          <a:lstStyle/>
          <a:p>
            <a:r>
              <a:rPr lang="en-GB" sz="2000" b="1" dirty="0"/>
              <a:t>Common assumptions</a:t>
            </a:r>
          </a:p>
        </p:txBody>
      </p:sp>
      <p:sp>
        <p:nvSpPr>
          <p:cNvPr id="19" name="Rectangle 18">
            <a:extLst>
              <a:ext uri="{FF2B5EF4-FFF2-40B4-BE49-F238E27FC236}">
                <a16:creationId xmlns:a16="http://schemas.microsoft.com/office/drawing/2014/main" id="{873D9105-3E6B-10ED-4287-DCCFD552466A}"/>
              </a:ext>
            </a:extLst>
          </p:cNvPr>
          <p:cNvSpPr/>
          <p:nvPr/>
        </p:nvSpPr>
        <p:spPr>
          <a:xfrm>
            <a:off x="5473471" y="4718393"/>
            <a:ext cx="4516132" cy="11200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21" name="Straight Connector 20">
            <a:extLst>
              <a:ext uri="{FF2B5EF4-FFF2-40B4-BE49-F238E27FC236}">
                <a16:creationId xmlns:a16="http://schemas.microsoft.com/office/drawing/2014/main" id="{BA50C4EA-BE11-EECC-262B-9C76E0A42B66}"/>
              </a:ext>
            </a:extLst>
          </p:cNvPr>
          <p:cNvCxnSpPr>
            <a:cxnSpLocks/>
          </p:cNvCxnSpPr>
          <p:nvPr/>
        </p:nvCxnSpPr>
        <p:spPr>
          <a:xfrm>
            <a:off x="4991816" y="3950890"/>
            <a:ext cx="481656"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8F4B61-6318-5EFD-E10A-F4052C9927D2}"/>
              </a:ext>
            </a:extLst>
          </p:cNvPr>
          <p:cNvCxnSpPr>
            <a:cxnSpLocks/>
          </p:cNvCxnSpPr>
          <p:nvPr/>
        </p:nvCxnSpPr>
        <p:spPr>
          <a:xfrm>
            <a:off x="4991816" y="5328318"/>
            <a:ext cx="481656"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7ABF76E-8406-4611-7797-61CA4ADE735E}"/>
              </a:ext>
            </a:extLst>
          </p:cNvPr>
          <p:cNvCxnSpPr>
            <a:cxnSpLocks/>
          </p:cNvCxnSpPr>
          <p:nvPr/>
        </p:nvCxnSpPr>
        <p:spPr>
          <a:xfrm flipH="1">
            <a:off x="4979295" y="3950890"/>
            <a:ext cx="12521" cy="1377428"/>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4D20CB8-F16F-36CC-565D-B9BB99213D94}"/>
              </a:ext>
            </a:extLst>
          </p:cNvPr>
          <p:cNvSpPr txBox="1"/>
          <p:nvPr/>
        </p:nvSpPr>
        <p:spPr>
          <a:xfrm>
            <a:off x="1341013" y="1162566"/>
            <a:ext cx="8511188" cy="600164"/>
          </a:xfrm>
          <a:prstGeom prst="rect">
            <a:avLst/>
          </a:prstGeom>
          <a:solidFill>
            <a:srgbClr val="E6DAC3"/>
          </a:solidFill>
          <a:ln w="19050">
            <a:noFill/>
          </a:ln>
        </p:spPr>
        <p:txBody>
          <a:bodyPr wrap="square">
            <a:spAutoFit/>
          </a:bodyPr>
          <a:lstStyle/>
          <a:p>
            <a:pPr algn="ctr"/>
            <a:endParaRPr lang="en-GB" sz="600" b="1" dirty="0"/>
          </a:p>
          <a:p>
            <a:pPr algn="ctr"/>
            <a:r>
              <a:rPr lang="en-GB" sz="2000" b="1" dirty="0"/>
              <a:t>KGs with explicit contradictions mirror real-world knowledge</a:t>
            </a:r>
          </a:p>
          <a:p>
            <a:pPr algn="ctr"/>
            <a:endParaRPr lang="en-GB" sz="700" b="1" dirty="0"/>
          </a:p>
        </p:txBody>
      </p:sp>
      <p:sp>
        <p:nvSpPr>
          <p:cNvPr id="25" name="Arrow: Right 24">
            <a:extLst>
              <a:ext uri="{FF2B5EF4-FFF2-40B4-BE49-F238E27FC236}">
                <a16:creationId xmlns:a16="http://schemas.microsoft.com/office/drawing/2014/main" id="{9E4AC9C5-44EB-8CD3-86D8-5CB8B3341893}"/>
              </a:ext>
            </a:extLst>
          </p:cNvPr>
          <p:cNvSpPr/>
          <p:nvPr/>
        </p:nvSpPr>
        <p:spPr>
          <a:xfrm>
            <a:off x="7346300" y="3606414"/>
            <a:ext cx="297805" cy="130626"/>
          </a:xfrm>
          <a:prstGeom prst="rightArrow">
            <a:avLst/>
          </a:prstGeom>
          <a:solidFill>
            <a:srgbClr val="7F7F7F"/>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26" name="TextBox 25">
            <a:extLst>
              <a:ext uri="{FF2B5EF4-FFF2-40B4-BE49-F238E27FC236}">
                <a16:creationId xmlns:a16="http://schemas.microsoft.com/office/drawing/2014/main" id="{98BC9140-2F83-803A-6499-289C9890376B}"/>
              </a:ext>
            </a:extLst>
          </p:cNvPr>
          <p:cNvSpPr txBox="1"/>
          <p:nvPr/>
        </p:nvSpPr>
        <p:spPr>
          <a:xfrm>
            <a:off x="1224281" y="2890572"/>
            <a:ext cx="3280129" cy="369332"/>
          </a:xfrm>
          <a:prstGeom prst="rect">
            <a:avLst/>
          </a:prstGeom>
          <a:noFill/>
        </p:spPr>
        <p:txBody>
          <a:bodyPr wrap="none" rtlCol="0">
            <a:spAutoFit/>
          </a:bodyPr>
          <a:lstStyle/>
          <a:p>
            <a:r>
              <a:rPr lang="en-GB" dirty="0"/>
              <a:t>But this would mean tackling… </a:t>
            </a:r>
          </a:p>
        </p:txBody>
      </p:sp>
      <p:sp>
        <p:nvSpPr>
          <p:cNvPr id="27" name="TextBox 26">
            <a:extLst>
              <a:ext uri="{FF2B5EF4-FFF2-40B4-BE49-F238E27FC236}">
                <a16:creationId xmlns:a16="http://schemas.microsoft.com/office/drawing/2014/main" id="{4C02418B-C190-EDF0-4695-A607F47399C9}"/>
              </a:ext>
            </a:extLst>
          </p:cNvPr>
          <p:cNvSpPr txBox="1"/>
          <p:nvPr/>
        </p:nvSpPr>
        <p:spPr>
          <a:xfrm>
            <a:off x="2810872" y="1691437"/>
            <a:ext cx="5118888" cy="369332"/>
          </a:xfrm>
          <a:prstGeom prst="rect">
            <a:avLst/>
          </a:prstGeom>
          <a:solidFill>
            <a:srgbClr val="E6DAC3"/>
          </a:solidFill>
          <a:ln w="19050">
            <a:noFill/>
          </a:ln>
        </p:spPr>
        <p:txBody>
          <a:bodyPr wrap="square" anchor="t">
            <a:spAutoFit/>
          </a:bodyPr>
          <a:lstStyle/>
          <a:p>
            <a:pPr algn="ctr"/>
            <a:r>
              <a:rPr lang="en-GB" b="1" dirty="0"/>
              <a:t>that should be </a:t>
            </a:r>
            <a:r>
              <a:rPr lang="en-GB" b="1" dirty="0" err="1"/>
              <a:t>modeled</a:t>
            </a:r>
            <a:r>
              <a:rPr lang="en-GB" b="1" dirty="0"/>
              <a:t> and exploited for ML!</a:t>
            </a:r>
          </a:p>
        </p:txBody>
      </p:sp>
    </p:spTree>
    <p:extLst>
      <p:ext uri="{BB962C8B-B14F-4D97-AF65-F5344CB8AC3E}">
        <p14:creationId xmlns:p14="http://schemas.microsoft.com/office/powerpoint/2010/main" val="144427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8" grpId="0" animBg="1"/>
      <p:bldP spid="9" grpId="0"/>
      <p:bldP spid="12" grpId="0"/>
      <p:bldP spid="13" grpId="0"/>
      <p:bldP spid="16" grpId="0"/>
      <p:bldP spid="17" grpId="0"/>
      <p:bldP spid="19" grpId="0" animBg="1"/>
      <p:bldP spid="24" grpId="0" animBg="1"/>
      <p:bldP spid="25" grpId="0" animBg="1"/>
      <p:bldP spid="26" grpId="0"/>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0F42D-251D-2CEF-201A-987F06BE904C}"/>
            </a:ext>
          </a:extLst>
        </p:cNvPr>
        <p:cNvGrpSpPr/>
        <p:nvPr/>
      </p:nvGrpSpPr>
      <p:grpSpPr>
        <a:xfrm>
          <a:off x="0" y="0"/>
          <a:ext cx="0" cy="0"/>
          <a:chOff x="0" y="0"/>
          <a:chExt cx="0" cy="0"/>
        </a:xfrm>
      </p:grpSpPr>
      <p:pic>
        <p:nvPicPr>
          <p:cNvPr id="6" name="Picture 5" descr="A white surface with a white surface&#10;&#10;AI-generated content may be incorrect.">
            <a:extLst>
              <a:ext uri="{FF2B5EF4-FFF2-40B4-BE49-F238E27FC236}">
                <a16:creationId xmlns:a16="http://schemas.microsoft.com/office/drawing/2014/main" id="{8A8DA80A-0A2E-3623-022A-EFBC59D04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 y="3741"/>
            <a:ext cx="12192000" cy="1219306"/>
          </a:xfrm>
          <a:prstGeom prst="rect">
            <a:avLst/>
          </a:prstGeom>
        </p:spPr>
      </p:pic>
      <p:sp>
        <p:nvSpPr>
          <p:cNvPr id="3" name="TextBox 2">
            <a:extLst>
              <a:ext uri="{FF2B5EF4-FFF2-40B4-BE49-F238E27FC236}">
                <a16:creationId xmlns:a16="http://schemas.microsoft.com/office/drawing/2014/main" id="{EB06153F-8899-DEAD-4A72-09E78A13546E}"/>
              </a:ext>
            </a:extLst>
          </p:cNvPr>
          <p:cNvSpPr txBox="1"/>
          <p:nvPr/>
        </p:nvSpPr>
        <p:spPr>
          <a:xfrm>
            <a:off x="717998" y="213589"/>
            <a:ext cx="4426276" cy="461665"/>
          </a:xfrm>
          <a:prstGeom prst="rect">
            <a:avLst/>
          </a:prstGeom>
          <a:noFill/>
        </p:spPr>
        <p:txBody>
          <a:bodyPr wrap="none" rtlCol="0">
            <a:spAutoFit/>
          </a:bodyPr>
          <a:lstStyle>
            <a:defPPr>
              <a:defRPr lang="en-US"/>
            </a:defPPr>
            <a:lvl1pPr>
              <a:defRPr sz="2400" b="1"/>
            </a:lvl1pPr>
          </a:lstStyle>
          <a:p>
            <a:r>
              <a:rPr lang="en-GB" dirty="0"/>
              <a:t>Use-cases with contradictions</a:t>
            </a:r>
          </a:p>
        </p:txBody>
      </p:sp>
      <p:sp>
        <p:nvSpPr>
          <p:cNvPr id="14" name="Slide Number Placeholder 13">
            <a:extLst>
              <a:ext uri="{FF2B5EF4-FFF2-40B4-BE49-F238E27FC236}">
                <a16:creationId xmlns:a16="http://schemas.microsoft.com/office/drawing/2014/main" id="{9D170836-AAFA-3452-7458-F02D4A8366C2}"/>
              </a:ext>
            </a:extLst>
          </p:cNvPr>
          <p:cNvSpPr>
            <a:spLocks noGrp="1"/>
          </p:cNvSpPr>
          <p:nvPr>
            <p:ph type="sldNum" sz="quarter" idx="12"/>
          </p:nvPr>
        </p:nvSpPr>
        <p:spPr/>
        <p:txBody>
          <a:bodyPr/>
          <a:lstStyle/>
          <a:p>
            <a:fld id="{50F50570-0466-4552-84ED-CC5D7290FD57}" type="slidenum">
              <a:rPr lang="en-GB" smtClean="0"/>
              <a:t>4</a:t>
            </a:fld>
            <a:endParaRPr lang="en-GB" dirty="0"/>
          </a:p>
        </p:txBody>
      </p:sp>
      <p:sp>
        <p:nvSpPr>
          <p:cNvPr id="5" name="TextBox 4">
            <a:extLst>
              <a:ext uri="{FF2B5EF4-FFF2-40B4-BE49-F238E27FC236}">
                <a16:creationId xmlns:a16="http://schemas.microsoft.com/office/drawing/2014/main" id="{F8DB46D2-F3D1-47F8-2AA3-697D0B2AB9D3}"/>
              </a:ext>
            </a:extLst>
          </p:cNvPr>
          <p:cNvSpPr txBox="1"/>
          <p:nvPr/>
        </p:nvSpPr>
        <p:spPr>
          <a:xfrm>
            <a:off x="6766468" y="1745354"/>
            <a:ext cx="5170979" cy="1046440"/>
          </a:xfrm>
          <a:prstGeom prst="rect">
            <a:avLst/>
          </a:prstGeom>
          <a:solidFill>
            <a:srgbClr val="F4EEE4"/>
          </a:solidFill>
          <a:effectLst>
            <a:outerShdw blurRad="50800" dist="38100" dir="5400000" algn="t" rotWithShape="0">
              <a:prstClr val="black">
                <a:alpha val="40000"/>
              </a:prstClr>
            </a:outerShdw>
          </a:effectLst>
        </p:spPr>
        <p:txBody>
          <a:bodyPr wrap="square">
            <a:spAutoFit/>
          </a:bodyPr>
          <a:lstStyle/>
          <a:p>
            <a:r>
              <a:rPr lang="en-GB" sz="1600" dirty="0"/>
              <a:t>Jerusalem, </a:t>
            </a:r>
            <a:r>
              <a:rPr lang="en-GB" sz="1600" dirty="0" err="1"/>
              <a:t>wiki:CapitalOf</a:t>
            </a:r>
            <a:r>
              <a:rPr lang="en-GB" sz="1600" dirty="0"/>
              <a:t>, </a:t>
            </a:r>
            <a:r>
              <a:rPr lang="en-GB" sz="1600" b="1" dirty="0"/>
              <a:t>S. Palestine </a:t>
            </a:r>
            <a:r>
              <a:rPr lang="en-GB" sz="1400" dirty="0"/>
              <a:t>— “disputed by USA 				            &amp; Israel”</a:t>
            </a:r>
          </a:p>
          <a:p>
            <a:endParaRPr lang="en-GB" sz="1600" dirty="0"/>
          </a:p>
          <a:p>
            <a:r>
              <a:rPr lang="en-GB" sz="1600" dirty="0"/>
              <a:t>Jerusalem, wiki: </a:t>
            </a:r>
            <a:r>
              <a:rPr lang="en-GB" sz="1600" dirty="0" err="1"/>
              <a:t>CapitalOf</a:t>
            </a:r>
            <a:r>
              <a:rPr lang="en-GB" sz="1600" dirty="0"/>
              <a:t>, Israel </a:t>
            </a:r>
            <a:r>
              <a:rPr lang="en-GB" sz="1400" dirty="0"/>
              <a:t>— “disputed by UN”</a:t>
            </a:r>
          </a:p>
        </p:txBody>
      </p:sp>
      <p:sp>
        <p:nvSpPr>
          <p:cNvPr id="17" name="TextBox 16">
            <a:extLst>
              <a:ext uri="{FF2B5EF4-FFF2-40B4-BE49-F238E27FC236}">
                <a16:creationId xmlns:a16="http://schemas.microsoft.com/office/drawing/2014/main" id="{87839D23-91E9-0D74-08C0-DB52D2D8EBF5}"/>
              </a:ext>
            </a:extLst>
          </p:cNvPr>
          <p:cNvSpPr txBox="1"/>
          <p:nvPr/>
        </p:nvSpPr>
        <p:spPr>
          <a:xfrm>
            <a:off x="361480" y="1990094"/>
            <a:ext cx="4414800" cy="923330"/>
          </a:xfrm>
          <a:prstGeom prst="rect">
            <a:avLst/>
          </a:prstGeom>
          <a:solidFill>
            <a:srgbClr val="F4EEE4"/>
          </a:solidFill>
          <a:effectLst>
            <a:outerShdw blurRad="50800" dist="38100" dir="5400000" algn="t" rotWithShape="0">
              <a:prstClr val="black">
                <a:alpha val="40000"/>
              </a:prstClr>
            </a:outerShdw>
          </a:effectLst>
        </p:spPr>
        <p:txBody>
          <a:bodyPr wrap="square">
            <a:spAutoFit/>
          </a:bodyPr>
          <a:lstStyle/>
          <a:p>
            <a:pPr algn="ctr"/>
            <a:r>
              <a:rPr lang="en-GB" dirty="0"/>
              <a:t>Gene Ontology description for </a:t>
            </a:r>
            <a:r>
              <a:rPr lang="fr-FR" b="1" dirty="0"/>
              <a:t>Transferase </a:t>
            </a:r>
            <a:r>
              <a:rPr lang="en-GB" b="1" dirty="0"/>
              <a:t>PLGT2</a:t>
            </a:r>
          </a:p>
          <a:p>
            <a:pPr algn="ctr"/>
            <a:r>
              <a:rPr lang="fr-FR" dirty="0"/>
              <a:t>(UniProt Q6UW63) </a:t>
            </a:r>
            <a:endParaRPr lang="en-GB" dirty="0"/>
          </a:p>
        </p:txBody>
      </p:sp>
      <p:sp>
        <p:nvSpPr>
          <p:cNvPr id="26" name="TextBox 25">
            <a:extLst>
              <a:ext uri="{FF2B5EF4-FFF2-40B4-BE49-F238E27FC236}">
                <a16:creationId xmlns:a16="http://schemas.microsoft.com/office/drawing/2014/main" id="{F0C8DFCA-4D59-3256-9F97-55C981CBC64A}"/>
              </a:ext>
            </a:extLst>
          </p:cNvPr>
          <p:cNvSpPr txBox="1"/>
          <p:nvPr/>
        </p:nvSpPr>
        <p:spPr>
          <a:xfrm>
            <a:off x="7706598" y="1649905"/>
            <a:ext cx="184731" cy="646331"/>
          </a:xfrm>
          <a:prstGeom prst="rect">
            <a:avLst/>
          </a:prstGeom>
          <a:noFill/>
        </p:spPr>
        <p:txBody>
          <a:bodyPr wrap="none" rtlCol="0">
            <a:spAutoFit/>
          </a:bodyPr>
          <a:lstStyle/>
          <a:p>
            <a:br>
              <a:rPr lang="en-GB" dirty="0"/>
            </a:br>
            <a:endParaRPr lang="en-GB" dirty="0"/>
          </a:p>
        </p:txBody>
      </p:sp>
      <p:sp>
        <p:nvSpPr>
          <p:cNvPr id="2" name="TextBox 1">
            <a:extLst>
              <a:ext uri="{FF2B5EF4-FFF2-40B4-BE49-F238E27FC236}">
                <a16:creationId xmlns:a16="http://schemas.microsoft.com/office/drawing/2014/main" id="{BB8719CD-E592-7BAB-9BA9-8C0D337B1B38}"/>
              </a:ext>
            </a:extLst>
          </p:cNvPr>
          <p:cNvSpPr txBox="1"/>
          <p:nvPr/>
        </p:nvSpPr>
        <p:spPr>
          <a:xfrm>
            <a:off x="6854920" y="951294"/>
            <a:ext cx="5131335" cy="692497"/>
          </a:xfrm>
          <a:prstGeom prst="rect">
            <a:avLst/>
          </a:prstGeom>
          <a:noFill/>
        </p:spPr>
        <p:txBody>
          <a:bodyPr wrap="square" rtlCol="0">
            <a:spAutoFit/>
          </a:bodyPr>
          <a:lstStyle/>
          <a:p>
            <a:r>
              <a:rPr lang="en-GB" sz="2000" b="1" dirty="0"/>
              <a:t>General domain –  </a:t>
            </a:r>
            <a:r>
              <a:rPr lang="en-GB" sz="1900" dirty="0"/>
              <a:t>statements from diverse and conflicting viewpoints</a:t>
            </a:r>
          </a:p>
        </p:txBody>
      </p:sp>
      <p:sp>
        <p:nvSpPr>
          <p:cNvPr id="4" name="TextBox 3">
            <a:extLst>
              <a:ext uri="{FF2B5EF4-FFF2-40B4-BE49-F238E27FC236}">
                <a16:creationId xmlns:a16="http://schemas.microsoft.com/office/drawing/2014/main" id="{C64B6629-1D8C-6DC5-79B2-6883B930CCC8}"/>
              </a:ext>
            </a:extLst>
          </p:cNvPr>
          <p:cNvSpPr txBox="1"/>
          <p:nvPr/>
        </p:nvSpPr>
        <p:spPr>
          <a:xfrm>
            <a:off x="387258" y="956414"/>
            <a:ext cx="5660969" cy="969496"/>
          </a:xfrm>
          <a:prstGeom prst="rect">
            <a:avLst/>
          </a:prstGeom>
          <a:noFill/>
        </p:spPr>
        <p:txBody>
          <a:bodyPr wrap="square" rtlCol="0">
            <a:spAutoFit/>
          </a:bodyPr>
          <a:lstStyle/>
          <a:p>
            <a:pPr algn="just"/>
            <a:r>
              <a:rPr lang="en-GB" sz="1900" b="1" dirty="0"/>
              <a:t>Scientific domain </a:t>
            </a:r>
            <a:r>
              <a:rPr lang="en-GB" b="1" dirty="0"/>
              <a:t>– </a:t>
            </a:r>
            <a:r>
              <a:rPr lang="en-GB" sz="1900" dirty="0"/>
              <a:t>continuously evolving scientific knowledge; different experimental conditions or contexts produce conflicting outcomes</a:t>
            </a:r>
            <a:endParaRPr lang="en-GB" sz="1900" b="1" dirty="0"/>
          </a:p>
        </p:txBody>
      </p:sp>
      <p:cxnSp>
        <p:nvCxnSpPr>
          <p:cNvPr id="7" name="Straight Connector 6">
            <a:extLst>
              <a:ext uri="{FF2B5EF4-FFF2-40B4-BE49-F238E27FC236}">
                <a16:creationId xmlns:a16="http://schemas.microsoft.com/office/drawing/2014/main" id="{0FFD5616-A70F-080A-A559-4499C4D34775}"/>
              </a:ext>
            </a:extLst>
          </p:cNvPr>
          <p:cNvCxnSpPr>
            <a:cxnSpLocks/>
          </p:cNvCxnSpPr>
          <p:nvPr/>
        </p:nvCxnSpPr>
        <p:spPr>
          <a:xfrm>
            <a:off x="6557853" y="1063031"/>
            <a:ext cx="0" cy="5386408"/>
          </a:xfrm>
          <a:prstGeom prst="line">
            <a:avLst/>
          </a:prstGeom>
          <a:ln w="57150" cap="rnd" cmpd="sng">
            <a:solidFill>
              <a:srgbClr val="D7B091"/>
            </a:solidFill>
            <a:prstDash val="solid"/>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0518F06-4076-E5EF-477E-894282B4D10B}"/>
              </a:ext>
            </a:extLst>
          </p:cNvPr>
          <p:cNvSpPr txBox="1"/>
          <p:nvPr/>
        </p:nvSpPr>
        <p:spPr>
          <a:xfrm>
            <a:off x="8124922" y="3059668"/>
            <a:ext cx="2454070" cy="369332"/>
          </a:xfrm>
          <a:prstGeom prst="rect">
            <a:avLst/>
          </a:prstGeom>
          <a:noFill/>
          <a:ln w="12700">
            <a:solidFill>
              <a:srgbClr val="A80000"/>
            </a:solidFill>
          </a:ln>
        </p:spPr>
        <p:txBody>
          <a:bodyPr wrap="none" rtlCol="0">
            <a:spAutoFit/>
          </a:bodyPr>
          <a:lstStyle/>
          <a:p>
            <a:r>
              <a:rPr lang="en-GB" b="1" dirty="0">
                <a:solidFill>
                  <a:srgbClr val="A80000"/>
                </a:solidFill>
              </a:rPr>
              <a:t>Implicit contradiction</a:t>
            </a:r>
          </a:p>
        </p:txBody>
      </p:sp>
      <p:sp>
        <p:nvSpPr>
          <p:cNvPr id="13" name="TextBox 12">
            <a:extLst>
              <a:ext uri="{FF2B5EF4-FFF2-40B4-BE49-F238E27FC236}">
                <a16:creationId xmlns:a16="http://schemas.microsoft.com/office/drawing/2014/main" id="{EC41CEE9-AEEE-379B-DB8E-0576DCB0B976}"/>
              </a:ext>
            </a:extLst>
          </p:cNvPr>
          <p:cNvSpPr txBox="1"/>
          <p:nvPr/>
        </p:nvSpPr>
        <p:spPr>
          <a:xfrm>
            <a:off x="7171240" y="3521129"/>
            <a:ext cx="4449599" cy="1169551"/>
          </a:xfrm>
          <a:prstGeom prst="rect">
            <a:avLst/>
          </a:prstGeom>
          <a:noFill/>
        </p:spPr>
        <p:txBody>
          <a:bodyPr wrap="square" rtlCol="0">
            <a:spAutoFit/>
          </a:bodyPr>
          <a:lstStyle/>
          <a:p>
            <a:pPr algn="just"/>
            <a:r>
              <a:rPr lang="en-GB" sz="1700" dirty="0"/>
              <a:t>Ambiguous value but </a:t>
            </a:r>
            <a:r>
              <a:rPr lang="en-GB" sz="1700" b="1" dirty="0"/>
              <a:t>no logical violation</a:t>
            </a:r>
            <a:r>
              <a:rPr lang="en-GB" sz="1700" dirty="0"/>
              <a:t>: </a:t>
            </a:r>
            <a:r>
              <a:rPr lang="en-GB" sz="1700" dirty="0" err="1"/>
              <a:t>Wikidata’s</a:t>
            </a:r>
            <a:r>
              <a:rPr lang="en-GB" sz="1700" dirty="0"/>
              <a:t> semantics allow for “</a:t>
            </a:r>
            <a:r>
              <a:rPr lang="en-GB" dirty="0"/>
              <a:t>Jerusalem</a:t>
            </a:r>
            <a:r>
              <a:rPr lang="en-GB" sz="1700" dirty="0"/>
              <a:t>” to be associated to more than one country</a:t>
            </a:r>
          </a:p>
          <a:p>
            <a:pPr algn="just"/>
            <a:r>
              <a:rPr lang="en-GB" sz="1700" dirty="0"/>
              <a:t>(no cardinality for </a:t>
            </a:r>
            <a:r>
              <a:rPr lang="en-GB" sz="1700" dirty="0" err="1"/>
              <a:t>wiki:</a:t>
            </a:r>
            <a:r>
              <a:rPr lang="en-GB" dirty="0" err="1"/>
              <a:t>CapitalOf</a:t>
            </a:r>
            <a:r>
              <a:rPr lang="en-GB" sz="1700" dirty="0"/>
              <a:t>)</a:t>
            </a:r>
          </a:p>
        </p:txBody>
      </p:sp>
      <p:sp>
        <p:nvSpPr>
          <p:cNvPr id="16" name="TextBox 15">
            <a:extLst>
              <a:ext uri="{FF2B5EF4-FFF2-40B4-BE49-F238E27FC236}">
                <a16:creationId xmlns:a16="http://schemas.microsoft.com/office/drawing/2014/main" id="{B2367B8A-0293-243E-3893-20ED0A339390}"/>
              </a:ext>
            </a:extLst>
          </p:cNvPr>
          <p:cNvSpPr txBox="1"/>
          <p:nvPr/>
        </p:nvSpPr>
        <p:spPr>
          <a:xfrm>
            <a:off x="604314" y="3194176"/>
            <a:ext cx="2428422" cy="369332"/>
          </a:xfrm>
          <a:prstGeom prst="rect">
            <a:avLst/>
          </a:prstGeom>
          <a:noFill/>
          <a:ln w="12700">
            <a:solidFill>
              <a:schemeClr val="tx1">
                <a:lumMod val="95000"/>
                <a:lumOff val="5000"/>
              </a:schemeClr>
            </a:solidFill>
          </a:ln>
        </p:spPr>
        <p:txBody>
          <a:bodyPr wrap="none" rtlCol="0">
            <a:spAutoFit/>
          </a:bodyPr>
          <a:lstStyle/>
          <a:p>
            <a:r>
              <a:rPr lang="en-GB" b="1" dirty="0">
                <a:solidFill>
                  <a:schemeClr val="tx1">
                    <a:lumMod val="95000"/>
                    <a:lumOff val="5000"/>
                  </a:schemeClr>
                </a:solidFill>
              </a:rPr>
              <a:t>Explicit contradiction</a:t>
            </a:r>
          </a:p>
        </p:txBody>
      </p:sp>
      <p:sp>
        <p:nvSpPr>
          <p:cNvPr id="18" name="TextBox 17">
            <a:extLst>
              <a:ext uri="{FF2B5EF4-FFF2-40B4-BE49-F238E27FC236}">
                <a16:creationId xmlns:a16="http://schemas.microsoft.com/office/drawing/2014/main" id="{2B30A076-82FD-A3B3-49E8-253D55D22B70}"/>
              </a:ext>
            </a:extLst>
          </p:cNvPr>
          <p:cNvSpPr txBox="1"/>
          <p:nvPr/>
        </p:nvSpPr>
        <p:spPr>
          <a:xfrm>
            <a:off x="445954" y="3693347"/>
            <a:ext cx="2824381" cy="923330"/>
          </a:xfrm>
          <a:prstGeom prst="rect">
            <a:avLst/>
          </a:prstGeom>
          <a:noFill/>
        </p:spPr>
        <p:txBody>
          <a:bodyPr wrap="square" rtlCol="0">
            <a:spAutoFit/>
          </a:bodyPr>
          <a:lstStyle/>
          <a:p>
            <a:pPr algn="just"/>
            <a:r>
              <a:rPr lang="en-GB" sz="1750" dirty="0"/>
              <a:t>Logical violation of the Gene Ontology’s semantics through negation.</a:t>
            </a:r>
          </a:p>
        </p:txBody>
      </p:sp>
      <p:sp>
        <p:nvSpPr>
          <p:cNvPr id="23" name="TextBox 22">
            <a:extLst>
              <a:ext uri="{FF2B5EF4-FFF2-40B4-BE49-F238E27FC236}">
                <a16:creationId xmlns:a16="http://schemas.microsoft.com/office/drawing/2014/main" id="{AD4E703A-2B14-F19F-9756-B160A0B3E8DE}"/>
              </a:ext>
            </a:extLst>
          </p:cNvPr>
          <p:cNvSpPr txBox="1"/>
          <p:nvPr/>
        </p:nvSpPr>
        <p:spPr>
          <a:xfrm>
            <a:off x="8124922" y="5012677"/>
            <a:ext cx="2454070" cy="369332"/>
          </a:xfrm>
          <a:prstGeom prst="rect">
            <a:avLst/>
          </a:prstGeom>
          <a:ln w="12700"/>
        </p:spPr>
        <p:style>
          <a:lnRef idx="2">
            <a:schemeClr val="dk1"/>
          </a:lnRef>
          <a:fillRef idx="1">
            <a:schemeClr val="lt1"/>
          </a:fillRef>
          <a:effectRef idx="0">
            <a:schemeClr val="dk1"/>
          </a:effectRef>
          <a:fontRef idx="minor">
            <a:schemeClr val="dk1"/>
          </a:fontRef>
        </p:style>
        <p:txBody>
          <a:bodyPr wrap="square">
            <a:spAutoFit/>
          </a:bodyPr>
          <a:lstStyle/>
          <a:p>
            <a:pPr algn="ctr"/>
            <a:r>
              <a:rPr lang="en-GB" b="1" dirty="0"/>
              <a:t>Possible solution</a:t>
            </a:r>
            <a:endParaRPr lang="en-GB" sz="1400" dirty="0"/>
          </a:p>
        </p:txBody>
      </p:sp>
      <p:sp>
        <p:nvSpPr>
          <p:cNvPr id="22" name="TextBox 21">
            <a:extLst>
              <a:ext uri="{FF2B5EF4-FFF2-40B4-BE49-F238E27FC236}">
                <a16:creationId xmlns:a16="http://schemas.microsoft.com/office/drawing/2014/main" id="{8E6E35BC-6C5F-7B16-F702-2F7836917FA3}"/>
              </a:ext>
            </a:extLst>
          </p:cNvPr>
          <p:cNvSpPr txBox="1"/>
          <p:nvPr/>
        </p:nvSpPr>
        <p:spPr>
          <a:xfrm>
            <a:off x="407313" y="5297998"/>
            <a:ext cx="2921989" cy="900246"/>
          </a:xfrm>
          <a:prstGeom prst="rect">
            <a:avLst/>
          </a:prstGeom>
          <a:noFill/>
        </p:spPr>
        <p:txBody>
          <a:bodyPr wrap="square">
            <a:spAutoFit/>
          </a:bodyPr>
          <a:lstStyle/>
          <a:p>
            <a:pPr algn="just"/>
            <a:r>
              <a:rPr lang="en-GB" sz="1750" dirty="0"/>
              <a:t>Detected by reasoners &amp; rule-based logic; valid under specific bio-contexts</a:t>
            </a:r>
          </a:p>
        </p:txBody>
      </p:sp>
      <p:sp>
        <p:nvSpPr>
          <p:cNvPr id="27" name="TextBox 26">
            <a:extLst>
              <a:ext uri="{FF2B5EF4-FFF2-40B4-BE49-F238E27FC236}">
                <a16:creationId xmlns:a16="http://schemas.microsoft.com/office/drawing/2014/main" id="{AF57636B-5655-2589-EB09-0501E7E6FE42}"/>
              </a:ext>
            </a:extLst>
          </p:cNvPr>
          <p:cNvSpPr txBox="1"/>
          <p:nvPr/>
        </p:nvSpPr>
        <p:spPr>
          <a:xfrm>
            <a:off x="646534" y="4828011"/>
            <a:ext cx="2067002" cy="369332"/>
          </a:xfrm>
          <a:prstGeom prst="rect">
            <a:avLst/>
          </a:prstGeom>
          <a:ln w="12700"/>
        </p:spPr>
        <p:style>
          <a:lnRef idx="2">
            <a:schemeClr val="dk1"/>
          </a:lnRef>
          <a:fillRef idx="1">
            <a:schemeClr val="lt1"/>
          </a:fillRef>
          <a:effectRef idx="0">
            <a:schemeClr val="dk1"/>
          </a:effectRef>
          <a:fontRef idx="minor">
            <a:schemeClr val="dk1"/>
          </a:fontRef>
        </p:style>
        <p:txBody>
          <a:bodyPr wrap="square">
            <a:spAutoFit/>
          </a:bodyPr>
          <a:lstStyle/>
          <a:p>
            <a:r>
              <a:rPr lang="en-GB" b="1" dirty="0"/>
              <a:t>Common solution</a:t>
            </a:r>
            <a:endParaRPr lang="en-GB" dirty="0"/>
          </a:p>
        </p:txBody>
      </p:sp>
      <p:sp>
        <p:nvSpPr>
          <p:cNvPr id="21" name="TextBox 20">
            <a:extLst>
              <a:ext uri="{FF2B5EF4-FFF2-40B4-BE49-F238E27FC236}">
                <a16:creationId xmlns:a16="http://schemas.microsoft.com/office/drawing/2014/main" id="{924773A9-3811-489A-209C-F404BF9C223D}"/>
              </a:ext>
            </a:extLst>
          </p:cNvPr>
          <p:cNvSpPr txBox="1"/>
          <p:nvPr/>
        </p:nvSpPr>
        <p:spPr>
          <a:xfrm>
            <a:off x="7171240" y="5420015"/>
            <a:ext cx="4449598" cy="1200329"/>
          </a:xfrm>
          <a:prstGeom prst="rect">
            <a:avLst/>
          </a:prstGeom>
          <a:noFill/>
        </p:spPr>
        <p:txBody>
          <a:bodyPr wrap="square">
            <a:spAutoFit/>
          </a:bodyPr>
          <a:lstStyle/>
          <a:p>
            <a:pPr algn="just"/>
            <a:r>
              <a:rPr lang="en-GB" sz="1750" dirty="0"/>
              <a:t>Combining symbolic and sub-symbolic systems to leverage external knowledge as the missing semantics – e.g. LLMs with domain KGs, ontologies.</a:t>
            </a:r>
          </a:p>
        </p:txBody>
      </p:sp>
      <p:pic>
        <p:nvPicPr>
          <p:cNvPr id="1032" name="Picture 8">
            <a:extLst>
              <a:ext uri="{FF2B5EF4-FFF2-40B4-BE49-F238E27FC236}">
                <a16:creationId xmlns:a16="http://schemas.microsoft.com/office/drawing/2014/main" id="{57DD7E35-38F1-CEE3-0E54-A388079FC1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9247" y="2119933"/>
            <a:ext cx="3094944" cy="428119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A99A8BE-F2EC-99A3-C606-6715C9B0F739}"/>
              </a:ext>
            </a:extLst>
          </p:cNvPr>
          <p:cNvSpPr txBox="1"/>
          <p:nvPr/>
        </p:nvSpPr>
        <p:spPr>
          <a:xfrm>
            <a:off x="388892" y="6385023"/>
            <a:ext cx="1056764" cy="307777"/>
          </a:xfrm>
          <a:prstGeom prst="rect">
            <a:avLst/>
          </a:prstGeom>
          <a:noFill/>
        </p:spPr>
        <p:txBody>
          <a:bodyPr wrap="none" rtlCol="0">
            <a:spAutoFit/>
          </a:bodyPr>
          <a:lstStyle/>
          <a:p>
            <a:r>
              <a:rPr lang="en-GB" sz="1400" dirty="0">
                <a:solidFill>
                  <a:schemeClr val="bg2">
                    <a:lumMod val="25000"/>
                  </a:schemeClr>
                </a:solidFill>
              </a:rPr>
              <a:t>Laura Balbi</a:t>
            </a:r>
          </a:p>
        </p:txBody>
      </p:sp>
    </p:spTree>
    <p:extLst>
      <p:ext uri="{BB962C8B-B14F-4D97-AF65-F5344CB8AC3E}">
        <p14:creationId xmlns:p14="http://schemas.microsoft.com/office/powerpoint/2010/main" val="152891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animBg="1"/>
      <p:bldP spid="2" grpId="0"/>
      <p:bldP spid="4" grpId="0"/>
      <p:bldP spid="8" grpId="0" animBg="1"/>
      <p:bldP spid="13" grpId="0"/>
      <p:bldP spid="16" grpId="0" animBg="1"/>
      <p:bldP spid="18" grpId="0"/>
      <p:bldP spid="23" grpId="0" animBg="1"/>
      <p:bldP spid="22" grpId="0"/>
      <p:bldP spid="27" grpId="0" animBg="1"/>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EB11-B7B7-F0E3-F06D-CC25165EB3CA}"/>
            </a:ext>
          </a:extLst>
        </p:cNvPr>
        <p:cNvGrpSpPr/>
        <p:nvPr/>
      </p:nvGrpSpPr>
      <p:grpSpPr>
        <a:xfrm>
          <a:off x="0" y="0"/>
          <a:ext cx="0" cy="0"/>
          <a:chOff x="0" y="0"/>
          <a:chExt cx="0" cy="0"/>
        </a:xfrm>
      </p:grpSpPr>
      <p:pic>
        <p:nvPicPr>
          <p:cNvPr id="7" name="Picture 6" descr="A white surface with a white surface&#10;&#10;AI-generated content may be incorrect.">
            <a:extLst>
              <a:ext uri="{FF2B5EF4-FFF2-40B4-BE49-F238E27FC236}">
                <a16:creationId xmlns:a16="http://schemas.microsoft.com/office/drawing/2014/main" id="{371AA48A-11AE-CD14-B43E-F5D089CA2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 y="3741"/>
            <a:ext cx="12192000" cy="1219306"/>
          </a:xfrm>
          <a:prstGeom prst="rect">
            <a:avLst/>
          </a:prstGeom>
        </p:spPr>
      </p:pic>
      <p:sp>
        <p:nvSpPr>
          <p:cNvPr id="2" name="TextBox 1">
            <a:extLst>
              <a:ext uri="{FF2B5EF4-FFF2-40B4-BE49-F238E27FC236}">
                <a16:creationId xmlns:a16="http://schemas.microsoft.com/office/drawing/2014/main" id="{96D852A4-52A3-D0FF-2CCC-EC34B51DCBE6}"/>
              </a:ext>
            </a:extLst>
          </p:cNvPr>
          <p:cNvSpPr txBox="1"/>
          <p:nvPr/>
        </p:nvSpPr>
        <p:spPr>
          <a:xfrm>
            <a:off x="651830" y="210072"/>
            <a:ext cx="1838965" cy="461665"/>
          </a:xfrm>
          <a:prstGeom prst="rect">
            <a:avLst/>
          </a:prstGeom>
          <a:noFill/>
        </p:spPr>
        <p:txBody>
          <a:bodyPr wrap="none" rtlCol="0">
            <a:spAutoFit/>
          </a:bodyPr>
          <a:lstStyle/>
          <a:p>
            <a:r>
              <a:rPr lang="en-GB" sz="2400" b="1" dirty="0"/>
              <a:t>Hypothesis</a:t>
            </a:r>
          </a:p>
        </p:txBody>
      </p:sp>
      <p:sp>
        <p:nvSpPr>
          <p:cNvPr id="4" name="TextBox 3">
            <a:extLst>
              <a:ext uri="{FF2B5EF4-FFF2-40B4-BE49-F238E27FC236}">
                <a16:creationId xmlns:a16="http://schemas.microsoft.com/office/drawing/2014/main" id="{514AF4ED-EA7A-ED0C-213D-B829C6D45D93}"/>
              </a:ext>
            </a:extLst>
          </p:cNvPr>
          <p:cNvSpPr txBox="1"/>
          <p:nvPr/>
        </p:nvSpPr>
        <p:spPr>
          <a:xfrm>
            <a:off x="544359" y="3955635"/>
            <a:ext cx="10084439" cy="877163"/>
          </a:xfrm>
          <a:prstGeom prst="rect">
            <a:avLst/>
          </a:prstGeom>
          <a:noFill/>
        </p:spPr>
        <p:txBody>
          <a:bodyPr wrap="square">
            <a:spAutoFit/>
          </a:bodyPr>
          <a:lstStyle/>
          <a:p>
            <a:pPr algn="just"/>
            <a:r>
              <a:rPr lang="en-GB" sz="1700" dirty="0"/>
              <a:t>A neuro-symbolic approach that integrates symbolic and sub-symbolic representations can bridge KGs and LLMs to model contradictions and explore them into KG entity representations for use in downstream ML tasks.</a:t>
            </a:r>
          </a:p>
        </p:txBody>
      </p:sp>
      <p:sp>
        <p:nvSpPr>
          <p:cNvPr id="6" name="TextBox 5">
            <a:extLst>
              <a:ext uri="{FF2B5EF4-FFF2-40B4-BE49-F238E27FC236}">
                <a16:creationId xmlns:a16="http://schemas.microsoft.com/office/drawing/2014/main" id="{6A259B0F-425C-1411-813B-054B1F42A1D3}"/>
              </a:ext>
            </a:extLst>
          </p:cNvPr>
          <p:cNvSpPr txBox="1"/>
          <p:nvPr/>
        </p:nvSpPr>
        <p:spPr>
          <a:xfrm>
            <a:off x="544359" y="3402155"/>
            <a:ext cx="6097464" cy="400110"/>
          </a:xfrm>
          <a:prstGeom prst="rect">
            <a:avLst/>
          </a:prstGeom>
          <a:noFill/>
        </p:spPr>
        <p:txBody>
          <a:bodyPr wrap="square">
            <a:spAutoFit/>
          </a:bodyPr>
          <a:lstStyle/>
          <a:p>
            <a:r>
              <a:rPr lang="en-GB" sz="2000" b="1" dirty="0"/>
              <a:t>Hypothesis</a:t>
            </a:r>
            <a:endParaRPr lang="en-GB" sz="2000" dirty="0"/>
          </a:p>
        </p:txBody>
      </p:sp>
      <p:sp>
        <p:nvSpPr>
          <p:cNvPr id="3" name="Slide Number Placeholder 2">
            <a:extLst>
              <a:ext uri="{FF2B5EF4-FFF2-40B4-BE49-F238E27FC236}">
                <a16:creationId xmlns:a16="http://schemas.microsoft.com/office/drawing/2014/main" id="{FA061C49-2B39-F369-8F2A-9917C812E2D6}"/>
              </a:ext>
            </a:extLst>
          </p:cNvPr>
          <p:cNvSpPr>
            <a:spLocks noGrp="1"/>
          </p:cNvSpPr>
          <p:nvPr>
            <p:ph type="sldNum" sz="quarter" idx="12"/>
          </p:nvPr>
        </p:nvSpPr>
        <p:spPr/>
        <p:txBody>
          <a:bodyPr/>
          <a:lstStyle/>
          <a:p>
            <a:fld id="{50F50570-0466-4552-84ED-CC5D7290FD57}" type="slidenum">
              <a:rPr lang="en-GB" smtClean="0"/>
              <a:t>5</a:t>
            </a:fld>
            <a:endParaRPr lang="en-GB"/>
          </a:p>
        </p:txBody>
      </p:sp>
      <p:sp>
        <p:nvSpPr>
          <p:cNvPr id="10" name="TextBox 9">
            <a:extLst>
              <a:ext uri="{FF2B5EF4-FFF2-40B4-BE49-F238E27FC236}">
                <a16:creationId xmlns:a16="http://schemas.microsoft.com/office/drawing/2014/main" id="{A66E1755-3120-9BD8-D671-960AE2B9DE23}"/>
              </a:ext>
            </a:extLst>
          </p:cNvPr>
          <p:cNvSpPr txBox="1"/>
          <p:nvPr/>
        </p:nvSpPr>
        <p:spPr>
          <a:xfrm>
            <a:off x="388892" y="6385023"/>
            <a:ext cx="1056764" cy="307777"/>
          </a:xfrm>
          <a:prstGeom prst="rect">
            <a:avLst/>
          </a:prstGeom>
          <a:noFill/>
        </p:spPr>
        <p:txBody>
          <a:bodyPr wrap="none" rtlCol="0">
            <a:spAutoFit/>
          </a:bodyPr>
          <a:lstStyle/>
          <a:p>
            <a:r>
              <a:rPr lang="en-GB" sz="1400" dirty="0">
                <a:solidFill>
                  <a:schemeClr val="bg2">
                    <a:lumMod val="25000"/>
                  </a:schemeClr>
                </a:solidFill>
              </a:rPr>
              <a:t>Laura Balbi</a:t>
            </a:r>
          </a:p>
        </p:txBody>
      </p:sp>
      <p:sp>
        <p:nvSpPr>
          <p:cNvPr id="11" name="TextBox 10">
            <a:extLst>
              <a:ext uri="{FF2B5EF4-FFF2-40B4-BE49-F238E27FC236}">
                <a16:creationId xmlns:a16="http://schemas.microsoft.com/office/drawing/2014/main" id="{65531FB3-379C-20B6-E89C-F476D5CB7073}"/>
              </a:ext>
            </a:extLst>
          </p:cNvPr>
          <p:cNvSpPr txBox="1"/>
          <p:nvPr/>
        </p:nvSpPr>
        <p:spPr>
          <a:xfrm>
            <a:off x="544359" y="1901602"/>
            <a:ext cx="9726490" cy="353943"/>
          </a:xfrm>
          <a:prstGeom prst="rect">
            <a:avLst/>
          </a:prstGeom>
          <a:noFill/>
        </p:spPr>
        <p:txBody>
          <a:bodyPr wrap="square">
            <a:spAutoFit/>
          </a:bodyPr>
          <a:lstStyle/>
          <a:p>
            <a:pPr marL="285750" indent="-285750" algn="just">
              <a:buFont typeface="Arial" panose="020B0604020202020204" pitchFamily="34" charset="0"/>
              <a:buChar char="•"/>
            </a:pPr>
            <a:r>
              <a:rPr lang="en-GB" sz="1700" dirty="0"/>
              <a:t>Contradictions may represent different facets of a complex, multifaceted truth. </a:t>
            </a:r>
          </a:p>
        </p:txBody>
      </p:sp>
      <p:sp>
        <p:nvSpPr>
          <p:cNvPr id="18" name="TextBox 17">
            <a:extLst>
              <a:ext uri="{FF2B5EF4-FFF2-40B4-BE49-F238E27FC236}">
                <a16:creationId xmlns:a16="http://schemas.microsoft.com/office/drawing/2014/main" id="{1EC5F864-2B74-3983-2610-0902F8A2008B}"/>
              </a:ext>
            </a:extLst>
          </p:cNvPr>
          <p:cNvSpPr txBox="1"/>
          <p:nvPr/>
        </p:nvSpPr>
        <p:spPr>
          <a:xfrm>
            <a:off x="544359" y="2316591"/>
            <a:ext cx="9046686" cy="615553"/>
          </a:xfrm>
          <a:prstGeom prst="rect">
            <a:avLst/>
          </a:prstGeom>
          <a:noFill/>
        </p:spPr>
        <p:txBody>
          <a:bodyPr wrap="square">
            <a:spAutoFit/>
          </a:bodyPr>
          <a:lstStyle/>
          <a:p>
            <a:pPr marL="285750" indent="-285750" algn="just">
              <a:buFont typeface="Arial" panose="020B0604020202020204" pitchFamily="34" charset="0"/>
              <a:buChar char="•"/>
            </a:pPr>
            <a:r>
              <a:rPr lang="en-GB" sz="1700" dirty="0"/>
              <a:t>Current KGRL overlooks this and how </a:t>
            </a:r>
            <a:r>
              <a:rPr lang="en-GB" sz="1700" dirty="0" err="1"/>
              <a:t>modeling</a:t>
            </a:r>
            <a:r>
              <a:rPr lang="en-GB" sz="1700" dirty="0"/>
              <a:t> contradictions explicitly could enhance the applicability of KGs and the accuracy and of ML approaches over </a:t>
            </a:r>
            <a:r>
              <a:rPr lang="en-GB" sz="1700" dirty="0" err="1"/>
              <a:t>KGs.</a:t>
            </a:r>
            <a:endParaRPr lang="en-GB" sz="1700" dirty="0"/>
          </a:p>
        </p:txBody>
      </p:sp>
      <p:sp>
        <p:nvSpPr>
          <p:cNvPr id="19" name="TextBox 18">
            <a:extLst>
              <a:ext uri="{FF2B5EF4-FFF2-40B4-BE49-F238E27FC236}">
                <a16:creationId xmlns:a16="http://schemas.microsoft.com/office/drawing/2014/main" id="{4D383296-71EA-1E78-0650-F0CD0987EFEC}"/>
              </a:ext>
            </a:extLst>
          </p:cNvPr>
          <p:cNvSpPr txBox="1"/>
          <p:nvPr/>
        </p:nvSpPr>
        <p:spPr>
          <a:xfrm>
            <a:off x="544359" y="1406907"/>
            <a:ext cx="1120755" cy="400110"/>
          </a:xfrm>
          <a:prstGeom prst="rect">
            <a:avLst/>
          </a:prstGeom>
          <a:noFill/>
        </p:spPr>
        <p:txBody>
          <a:bodyPr wrap="square">
            <a:spAutoFit/>
          </a:bodyPr>
          <a:lstStyle/>
          <a:p>
            <a:r>
              <a:rPr lang="en-GB" sz="2000" b="1" dirty="0"/>
              <a:t>Recap</a:t>
            </a:r>
            <a:endParaRPr lang="en-GB" sz="2000" dirty="0"/>
          </a:p>
        </p:txBody>
      </p:sp>
    </p:spTree>
    <p:extLst>
      <p:ext uri="{BB962C8B-B14F-4D97-AF65-F5344CB8AC3E}">
        <p14:creationId xmlns:p14="http://schemas.microsoft.com/office/powerpoint/2010/main" val="318375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1"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D811A-519B-7FDC-C31F-7321CFF69F9E}"/>
            </a:ext>
          </a:extLst>
        </p:cNvPr>
        <p:cNvGrpSpPr/>
        <p:nvPr/>
      </p:nvGrpSpPr>
      <p:grpSpPr>
        <a:xfrm>
          <a:off x="0" y="0"/>
          <a:ext cx="0" cy="0"/>
          <a:chOff x="0" y="0"/>
          <a:chExt cx="0" cy="0"/>
        </a:xfrm>
      </p:grpSpPr>
      <p:pic>
        <p:nvPicPr>
          <p:cNvPr id="2" name="Picture 1" descr="A white surface with a white surface&#10;&#10;AI-generated content may be incorrect.">
            <a:extLst>
              <a:ext uri="{FF2B5EF4-FFF2-40B4-BE49-F238E27FC236}">
                <a16:creationId xmlns:a16="http://schemas.microsoft.com/office/drawing/2014/main" id="{13C553E7-E4B1-77A6-6E8A-3F6EB2E689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 y="3741"/>
            <a:ext cx="12192000" cy="1219306"/>
          </a:xfrm>
          <a:prstGeom prst="rect">
            <a:avLst/>
          </a:prstGeom>
        </p:spPr>
      </p:pic>
      <p:sp>
        <p:nvSpPr>
          <p:cNvPr id="134" name="Slide Number Placeholder 133">
            <a:extLst>
              <a:ext uri="{FF2B5EF4-FFF2-40B4-BE49-F238E27FC236}">
                <a16:creationId xmlns:a16="http://schemas.microsoft.com/office/drawing/2014/main" id="{327DDA38-2F02-FE8F-3D3E-BEB588F6FCA3}"/>
              </a:ext>
            </a:extLst>
          </p:cNvPr>
          <p:cNvSpPr>
            <a:spLocks noGrp="1"/>
          </p:cNvSpPr>
          <p:nvPr>
            <p:ph type="sldNum" sz="quarter" idx="12"/>
          </p:nvPr>
        </p:nvSpPr>
        <p:spPr/>
        <p:txBody>
          <a:bodyPr/>
          <a:lstStyle/>
          <a:p>
            <a:fld id="{50F50570-0466-4552-84ED-CC5D7290FD57}" type="slidenum">
              <a:rPr lang="en-GB" smtClean="0"/>
              <a:t>6</a:t>
            </a:fld>
            <a:endParaRPr lang="en-GB"/>
          </a:p>
        </p:txBody>
      </p:sp>
      <p:sp>
        <p:nvSpPr>
          <p:cNvPr id="137" name="TextBox 136">
            <a:extLst>
              <a:ext uri="{FF2B5EF4-FFF2-40B4-BE49-F238E27FC236}">
                <a16:creationId xmlns:a16="http://schemas.microsoft.com/office/drawing/2014/main" id="{52D390BD-F4FA-F547-613E-4F74BEE4B97B}"/>
              </a:ext>
            </a:extLst>
          </p:cNvPr>
          <p:cNvSpPr txBox="1"/>
          <p:nvPr/>
        </p:nvSpPr>
        <p:spPr>
          <a:xfrm>
            <a:off x="747562" y="222849"/>
            <a:ext cx="2196676" cy="461665"/>
          </a:xfrm>
          <a:prstGeom prst="rect">
            <a:avLst/>
          </a:prstGeom>
          <a:noFill/>
        </p:spPr>
        <p:txBody>
          <a:bodyPr wrap="square">
            <a:spAutoFit/>
          </a:bodyPr>
          <a:lstStyle/>
          <a:p>
            <a:r>
              <a:rPr lang="en-GB" sz="2400" b="1" dirty="0"/>
              <a:t>Methodology</a:t>
            </a:r>
          </a:p>
        </p:txBody>
      </p:sp>
      <p:sp>
        <p:nvSpPr>
          <p:cNvPr id="4" name="Rectangle 3">
            <a:extLst>
              <a:ext uri="{FF2B5EF4-FFF2-40B4-BE49-F238E27FC236}">
                <a16:creationId xmlns:a16="http://schemas.microsoft.com/office/drawing/2014/main" id="{64696742-705C-CDCF-7DE2-AA0ECA999544}"/>
              </a:ext>
            </a:extLst>
          </p:cNvPr>
          <p:cNvSpPr/>
          <p:nvPr/>
        </p:nvSpPr>
        <p:spPr>
          <a:xfrm>
            <a:off x="8287793" y="1463511"/>
            <a:ext cx="3531312" cy="4742736"/>
          </a:xfrm>
          <a:prstGeom prst="rect">
            <a:avLst/>
          </a:prstGeom>
          <a:solidFill>
            <a:srgbClr val="F4EEE4"/>
          </a:solidFill>
          <a:ln>
            <a:solidFill>
              <a:srgbClr val="F5F0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D6B74BE2-6580-C2BA-C20A-4F8E316CFEB8}"/>
              </a:ext>
            </a:extLst>
          </p:cNvPr>
          <p:cNvSpPr txBox="1"/>
          <p:nvPr/>
        </p:nvSpPr>
        <p:spPr>
          <a:xfrm>
            <a:off x="8126145" y="1077131"/>
            <a:ext cx="4085246" cy="338554"/>
          </a:xfrm>
          <a:prstGeom prst="rect">
            <a:avLst/>
          </a:prstGeom>
          <a:noFill/>
        </p:spPr>
        <p:txBody>
          <a:bodyPr wrap="square">
            <a:spAutoFit/>
          </a:bodyPr>
          <a:lstStyle/>
          <a:p>
            <a:pPr algn="ctr"/>
            <a:r>
              <a:rPr lang="en-GB" sz="1600" b="1" dirty="0" err="1">
                <a:latin typeface="Aptos" panose="020B0004020202020204" pitchFamily="34" charset="0"/>
                <a:ea typeface="Calibri Light" panose="020F0302020204030204" pitchFamily="34" charset="0"/>
                <a:cs typeface="Calibri Light" panose="020F0302020204030204" pitchFamily="34" charset="0"/>
              </a:rPr>
              <a:t>modeling</a:t>
            </a:r>
            <a:r>
              <a:rPr lang="en-GB" sz="1600" b="1" dirty="0">
                <a:latin typeface="Aptos" panose="020B0004020202020204" pitchFamily="34" charset="0"/>
                <a:ea typeface="Calibri Light" panose="020F0302020204030204" pitchFamily="34" charset="0"/>
                <a:cs typeface="Calibri Light" panose="020F0302020204030204" pitchFamily="34" charset="0"/>
              </a:rPr>
              <a:t> opposite relations</a:t>
            </a:r>
          </a:p>
        </p:txBody>
      </p:sp>
      <p:pic>
        <p:nvPicPr>
          <p:cNvPr id="3076" name="Picture 4">
            <a:extLst>
              <a:ext uri="{FF2B5EF4-FFF2-40B4-BE49-F238E27FC236}">
                <a16:creationId xmlns:a16="http://schemas.microsoft.com/office/drawing/2014/main" id="{88F563A5-C189-7E36-DF11-09BC556484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7425" y="1415685"/>
            <a:ext cx="1091269" cy="12994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B8B2DA1-4460-487C-C3FF-93B05DF39794}"/>
              </a:ext>
            </a:extLst>
          </p:cNvPr>
          <p:cNvSpPr txBox="1"/>
          <p:nvPr/>
        </p:nvSpPr>
        <p:spPr>
          <a:xfrm>
            <a:off x="388892" y="6385023"/>
            <a:ext cx="1056764" cy="307777"/>
          </a:xfrm>
          <a:prstGeom prst="rect">
            <a:avLst/>
          </a:prstGeom>
          <a:noFill/>
        </p:spPr>
        <p:txBody>
          <a:bodyPr wrap="none" rtlCol="0">
            <a:spAutoFit/>
          </a:bodyPr>
          <a:lstStyle/>
          <a:p>
            <a:r>
              <a:rPr lang="en-GB" sz="1400" dirty="0">
                <a:solidFill>
                  <a:schemeClr val="bg2">
                    <a:lumMod val="25000"/>
                  </a:schemeClr>
                </a:solidFill>
              </a:rPr>
              <a:t>Laura Balbi</a:t>
            </a:r>
          </a:p>
        </p:txBody>
      </p:sp>
      <p:pic>
        <p:nvPicPr>
          <p:cNvPr id="2050" name="Picture 2">
            <a:extLst>
              <a:ext uri="{FF2B5EF4-FFF2-40B4-BE49-F238E27FC236}">
                <a16:creationId xmlns:a16="http://schemas.microsoft.com/office/drawing/2014/main" id="{320AFC66-002F-3A64-DCD1-2AF7C3D3EB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91" y="1549590"/>
            <a:ext cx="7991510" cy="47427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083DDF0-3EB5-FF85-3D9D-5B0482C8EF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5628" y="1481585"/>
            <a:ext cx="2203029" cy="212853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B6F57889-BF5F-9A56-26F8-2A96C34664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0600" y="3259797"/>
            <a:ext cx="2402470" cy="23902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AE75D7D-36A9-6DC0-A142-E135C4F1155B}"/>
              </a:ext>
            </a:extLst>
          </p:cNvPr>
          <p:cNvSpPr txBox="1"/>
          <p:nvPr/>
        </p:nvSpPr>
        <p:spPr>
          <a:xfrm>
            <a:off x="8375345" y="5512759"/>
            <a:ext cx="3317304" cy="715581"/>
          </a:xfrm>
          <a:prstGeom prst="rect">
            <a:avLst/>
          </a:prstGeom>
          <a:noFill/>
        </p:spPr>
        <p:txBody>
          <a:bodyPr wrap="square" rtlCol="0">
            <a:spAutoFit/>
          </a:bodyPr>
          <a:lstStyle/>
          <a:p>
            <a:pPr marL="171450" indent="-171450" algn="just">
              <a:buFont typeface="Arial" panose="020B0604020202020204" pitchFamily="34" charset="0"/>
              <a:buChar char="•"/>
            </a:pPr>
            <a:r>
              <a:rPr lang="en-GB" sz="1350" dirty="0"/>
              <a:t>Separate negative and positive relations</a:t>
            </a:r>
          </a:p>
          <a:p>
            <a:pPr marL="171450" indent="-171450" algn="just">
              <a:buFont typeface="Arial" panose="020B0604020202020204" pitchFamily="34" charset="0"/>
              <a:buChar char="•"/>
            </a:pPr>
            <a:r>
              <a:rPr lang="en-GB" sz="1350" dirty="0"/>
              <a:t>Approximate negative </a:t>
            </a:r>
            <a:r>
              <a:rPr lang="en-GB" sz="1350" dirty="0" err="1"/>
              <a:t>neighbors</a:t>
            </a:r>
            <a:r>
              <a:rPr lang="en-GB" sz="1350" dirty="0"/>
              <a:t> of the same node and relation type</a:t>
            </a:r>
          </a:p>
        </p:txBody>
      </p:sp>
    </p:spTree>
    <p:extLst>
      <p:ext uri="{BB962C8B-B14F-4D97-AF65-F5344CB8AC3E}">
        <p14:creationId xmlns:p14="http://schemas.microsoft.com/office/powerpoint/2010/main" val="2952516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1BC61-E518-1A23-72BD-ED35684AE9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5E37CB-2D9A-6250-78ED-08F940A624B2}"/>
              </a:ext>
            </a:extLst>
          </p:cNvPr>
          <p:cNvSpPr txBox="1"/>
          <p:nvPr/>
        </p:nvSpPr>
        <p:spPr>
          <a:xfrm>
            <a:off x="1589135" y="116200"/>
            <a:ext cx="9013730" cy="523220"/>
          </a:xfrm>
          <a:prstGeom prst="rect">
            <a:avLst/>
          </a:prstGeom>
          <a:noFill/>
        </p:spPr>
        <p:txBody>
          <a:bodyPr wrap="square">
            <a:spAutoFit/>
          </a:bodyPr>
          <a:lstStyle/>
          <a:p>
            <a:pPr algn="ctr"/>
            <a:r>
              <a:rPr lang="en-GB" sz="2800" b="1" dirty="0">
                <a:solidFill>
                  <a:schemeClr val="tx2"/>
                </a:solidFill>
              </a:rPr>
              <a:t>Acknowledgements &amp; Team</a:t>
            </a:r>
          </a:p>
        </p:txBody>
      </p:sp>
      <p:pic>
        <p:nvPicPr>
          <p:cNvPr id="5" name="Google Shape;96;p1">
            <a:extLst>
              <a:ext uri="{FF2B5EF4-FFF2-40B4-BE49-F238E27FC236}">
                <a16:creationId xmlns:a16="http://schemas.microsoft.com/office/drawing/2014/main" id="{FD3DFBE5-1FEA-3000-85CE-23EDF6849602}"/>
              </a:ext>
            </a:extLst>
          </p:cNvPr>
          <p:cNvPicPr preferRelativeResize="0"/>
          <p:nvPr/>
        </p:nvPicPr>
        <p:blipFill>
          <a:blip r:embed="rId3">
            <a:alphaModFix/>
          </a:blip>
          <a:stretch>
            <a:fillRect/>
          </a:stretch>
        </p:blipFill>
        <p:spPr>
          <a:xfrm>
            <a:off x="10150" y="5685638"/>
            <a:ext cx="2816870" cy="1168938"/>
          </a:xfrm>
          <a:prstGeom prst="rect">
            <a:avLst/>
          </a:prstGeom>
          <a:noFill/>
          <a:ln>
            <a:noFill/>
          </a:ln>
        </p:spPr>
      </p:pic>
      <p:pic>
        <p:nvPicPr>
          <p:cNvPr id="6" name="Picture 5" descr="A black background with a black square&#10;&#10;Description automatically generated with medium confidence">
            <a:extLst>
              <a:ext uri="{FF2B5EF4-FFF2-40B4-BE49-F238E27FC236}">
                <a16:creationId xmlns:a16="http://schemas.microsoft.com/office/drawing/2014/main" id="{3F708996-F635-2F54-201B-32CCDD17D432}"/>
              </a:ext>
            </a:extLst>
          </p:cNvPr>
          <p:cNvPicPr>
            <a:picLocks noChangeAspect="1"/>
          </p:cNvPicPr>
          <p:nvPr/>
        </p:nvPicPr>
        <p:blipFill>
          <a:blip r:embed="rId4"/>
          <a:stretch>
            <a:fillRect/>
          </a:stretch>
        </p:blipFill>
        <p:spPr>
          <a:xfrm>
            <a:off x="3013970" y="5827920"/>
            <a:ext cx="2523230" cy="799769"/>
          </a:xfrm>
          <a:prstGeom prst="rect">
            <a:avLst/>
          </a:prstGeom>
        </p:spPr>
      </p:pic>
      <p:pic>
        <p:nvPicPr>
          <p:cNvPr id="7" name="Picture 6" descr="A blue flag with yellow stars in the center&#10;&#10;AI-generated content may be incorrect.">
            <a:extLst>
              <a:ext uri="{FF2B5EF4-FFF2-40B4-BE49-F238E27FC236}">
                <a16:creationId xmlns:a16="http://schemas.microsoft.com/office/drawing/2014/main" id="{05D26874-B0D0-F295-2261-0A1FE32E868F}"/>
              </a:ext>
            </a:extLst>
          </p:cNvPr>
          <p:cNvPicPr>
            <a:picLocks noChangeAspect="1"/>
          </p:cNvPicPr>
          <p:nvPr/>
        </p:nvPicPr>
        <p:blipFill>
          <a:blip r:embed="rId5"/>
          <a:stretch>
            <a:fillRect/>
          </a:stretch>
        </p:blipFill>
        <p:spPr>
          <a:xfrm>
            <a:off x="10486650" y="5669252"/>
            <a:ext cx="1469130" cy="979611"/>
          </a:xfrm>
          <a:prstGeom prst="rect">
            <a:avLst/>
          </a:prstGeom>
        </p:spPr>
      </p:pic>
      <p:pic>
        <p:nvPicPr>
          <p:cNvPr id="9" name="Picture 8" descr="A logo for a clinical knowledge for human health&#10;&#10;AI-generated content may be incorrect.">
            <a:extLst>
              <a:ext uri="{FF2B5EF4-FFF2-40B4-BE49-F238E27FC236}">
                <a16:creationId xmlns:a16="http://schemas.microsoft.com/office/drawing/2014/main" id="{D172A330-F9DE-2BE2-C389-6BE816CA11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53528" y="5338253"/>
            <a:ext cx="2446172" cy="1310610"/>
          </a:xfrm>
          <a:prstGeom prst="rect">
            <a:avLst/>
          </a:prstGeom>
        </p:spPr>
      </p:pic>
      <p:pic>
        <p:nvPicPr>
          <p:cNvPr id="1026" name="Picture 2">
            <a:extLst>
              <a:ext uri="{FF2B5EF4-FFF2-40B4-BE49-F238E27FC236}">
                <a16:creationId xmlns:a16="http://schemas.microsoft.com/office/drawing/2014/main" id="{89FF5C66-420C-37B3-18F7-6A07213D2D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8455" y="1549937"/>
            <a:ext cx="4431574" cy="332368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E3129A5F-1961-D38F-023A-39D4A8EC56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770" y="1199342"/>
            <a:ext cx="2905125" cy="1866900"/>
          </a:xfrm>
          <a:prstGeom prst="rect">
            <a:avLst/>
          </a:prstGeom>
          <a:noFill/>
          <a:extLst>
            <a:ext uri="{909E8E84-426E-40DD-AFC4-6F175D3DCCD1}">
              <a14:hiddenFill xmlns:a14="http://schemas.microsoft.com/office/drawing/2010/main">
                <a:solidFill>
                  <a:srgbClr val="FFFFFF"/>
                </a:solidFill>
              </a14:hiddenFill>
            </a:ext>
          </a:extLst>
        </p:spPr>
      </p:pic>
      <p:pic>
        <p:nvPicPr>
          <p:cNvPr id="3" name="Google Shape;94;p1">
            <a:extLst>
              <a:ext uri="{FF2B5EF4-FFF2-40B4-BE49-F238E27FC236}">
                <a16:creationId xmlns:a16="http://schemas.microsoft.com/office/drawing/2014/main" id="{BA3207BE-57A3-AF7A-6623-36373B915547}"/>
              </a:ext>
            </a:extLst>
          </p:cNvPr>
          <p:cNvPicPr preferRelativeResize="0"/>
          <p:nvPr/>
        </p:nvPicPr>
        <p:blipFill>
          <a:blip r:embed="rId9">
            <a:alphaModFix/>
          </a:blip>
          <a:stretch>
            <a:fillRect/>
          </a:stretch>
        </p:blipFill>
        <p:spPr>
          <a:xfrm>
            <a:off x="5630675" y="5689062"/>
            <a:ext cx="2129378" cy="1168938"/>
          </a:xfrm>
          <a:prstGeom prst="rect">
            <a:avLst/>
          </a:prstGeom>
          <a:noFill/>
          <a:ln>
            <a:noFill/>
          </a:ln>
        </p:spPr>
      </p:pic>
      <p:sp>
        <p:nvSpPr>
          <p:cNvPr id="2" name="Slide Number Placeholder 1">
            <a:extLst>
              <a:ext uri="{FF2B5EF4-FFF2-40B4-BE49-F238E27FC236}">
                <a16:creationId xmlns:a16="http://schemas.microsoft.com/office/drawing/2014/main" id="{64B48BF3-8830-04A9-B82A-DAA9BC1AA3A1}"/>
              </a:ext>
            </a:extLst>
          </p:cNvPr>
          <p:cNvSpPr>
            <a:spLocks noGrp="1"/>
          </p:cNvSpPr>
          <p:nvPr>
            <p:ph type="sldNum" sz="quarter" idx="12"/>
          </p:nvPr>
        </p:nvSpPr>
        <p:spPr/>
        <p:txBody>
          <a:bodyPr/>
          <a:lstStyle/>
          <a:p>
            <a:fld id="{50F50570-0466-4552-84ED-CC5D7290FD57}" type="slidenum">
              <a:rPr lang="en-GB" smtClean="0"/>
              <a:t>7</a:t>
            </a:fld>
            <a:endParaRPr lang="en-GB"/>
          </a:p>
        </p:txBody>
      </p:sp>
      <p:sp>
        <p:nvSpPr>
          <p:cNvPr id="8" name="TextBox 7">
            <a:extLst>
              <a:ext uri="{FF2B5EF4-FFF2-40B4-BE49-F238E27FC236}">
                <a16:creationId xmlns:a16="http://schemas.microsoft.com/office/drawing/2014/main" id="{D7BFAB87-8C16-A1CE-151B-AAF36451570E}"/>
              </a:ext>
            </a:extLst>
          </p:cNvPr>
          <p:cNvSpPr txBox="1"/>
          <p:nvPr/>
        </p:nvSpPr>
        <p:spPr>
          <a:xfrm>
            <a:off x="270770" y="3917606"/>
            <a:ext cx="2527359" cy="1231876"/>
          </a:xfrm>
          <a:prstGeom prst="rect">
            <a:avLst/>
          </a:prstGeom>
          <a:noFill/>
        </p:spPr>
        <p:txBody>
          <a:bodyPr wrap="none" rtlCol="0">
            <a:spAutoFit/>
          </a:bodyPr>
          <a:lstStyle/>
          <a:p>
            <a:pPr>
              <a:lnSpc>
                <a:spcPct val="150000"/>
              </a:lnSpc>
            </a:pPr>
            <a:r>
              <a:rPr lang="en-GB" sz="1700" b="1" dirty="0">
                <a:solidFill>
                  <a:srgbClr val="38B6FF"/>
                </a:solidFill>
              </a:rPr>
              <a:t>Contacts:</a:t>
            </a:r>
          </a:p>
          <a:p>
            <a:pPr>
              <a:lnSpc>
                <a:spcPct val="150000"/>
              </a:lnSpc>
            </a:pPr>
            <a:r>
              <a:rPr lang="en-GB" sz="1700" dirty="0"/>
              <a:t>lbalbi@lasige.di.fc.ul.pt</a:t>
            </a:r>
            <a:endParaRPr lang="en-GB" sz="1700" b="1" dirty="0">
              <a:solidFill>
                <a:srgbClr val="38B6FF"/>
              </a:solidFill>
            </a:endParaRPr>
          </a:p>
          <a:p>
            <a:pPr>
              <a:lnSpc>
                <a:spcPct val="150000"/>
              </a:lnSpc>
            </a:pPr>
            <a:r>
              <a:rPr lang="en-GB" sz="1700" dirty="0"/>
              <a:t>https://github.com/lbalbi</a:t>
            </a:r>
          </a:p>
        </p:txBody>
      </p:sp>
      <p:sp>
        <p:nvSpPr>
          <p:cNvPr id="11" name="TextBox 10">
            <a:extLst>
              <a:ext uri="{FF2B5EF4-FFF2-40B4-BE49-F238E27FC236}">
                <a16:creationId xmlns:a16="http://schemas.microsoft.com/office/drawing/2014/main" id="{602A8F9E-E07D-6597-0C9E-2DDB8FBCE615}"/>
              </a:ext>
            </a:extLst>
          </p:cNvPr>
          <p:cNvSpPr txBox="1"/>
          <p:nvPr/>
        </p:nvSpPr>
        <p:spPr>
          <a:xfrm>
            <a:off x="270770" y="3401098"/>
            <a:ext cx="2743200" cy="353943"/>
          </a:xfrm>
          <a:prstGeom prst="rect">
            <a:avLst/>
          </a:prstGeom>
          <a:noFill/>
        </p:spPr>
        <p:txBody>
          <a:bodyPr wrap="square">
            <a:spAutoFit/>
          </a:bodyPr>
          <a:lstStyle/>
          <a:p>
            <a:r>
              <a:rPr lang="en-US" sz="1700" b="1" dirty="0">
                <a:solidFill>
                  <a:srgbClr val="38B6FF"/>
                </a:solidFill>
              </a:rPr>
              <a:t>Supervisor: </a:t>
            </a:r>
            <a:r>
              <a:rPr lang="en-US" sz="1700" dirty="0"/>
              <a:t>Catia </a:t>
            </a:r>
            <a:r>
              <a:rPr lang="en-US" sz="1700" dirty="0" err="1"/>
              <a:t>Pesquita</a:t>
            </a:r>
            <a:endParaRPr lang="en-GB" sz="1700" dirty="0"/>
          </a:p>
        </p:txBody>
      </p:sp>
      <p:sp>
        <p:nvSpPr>
          <p:cNvPr id="10" name="Google Shape;92;p1">
            <a:extLst>
              <a:ext uri="{FF2B5EF4-FFF2-40B4-BE49-F238E27FC236}">
                <a16:creationId xmlns:a16="http://schemas.microsoft.com/office/drawing/2014/main" id="{6DDE0F85-3E17-8D5C-283B-D261EF445EE5}"/>
              </a:ext>
            </a:extLst>
          </p:cNvPr>
          <p:cNvSpPr/>
          <p:nvPr/>
        </p:nvSpPr>
        <p:spPr>
          <a:xfrm>
            <a:off x="8270353" y="2151380"/>
            <a:ext cx="3629361" cy="127762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GB" sz="1500" b="0" dirty="0">
                <a:effectLst/>
                <a:latin typeface="Source Sans Pro" panose="020B0503030403020204" pitchFamily="34" charset="0"/>
                <a:ea typeface="Source Sans Pro" panose="020B0503030403020204" pitchFamily="34" charset="0"/>
              </a:rPr>
              <a:t>This work is supported by FCT through the fellowship </a:t>
            </a:r>
            <a:r>
              <a:rPr lang="en-GB" sz="1500" b="0" u="none" strike="noStrike" dirty="0">
                <a:effectLst/>
                <a:latin typeface="Source Sans Pro" panose="020B0503030403020204" pitchFamily="34" charset="0"/>
                <a:ea typeface="Source Sans Pro" panose="020B0503030403020204" pitchFamily="34" charset="0"/>
              </a:rPr>
              <a:t>2024.01208.BD</a:t>
            </a:r>
            <a:r>
              <a:rPr lang="en-GB" sz="1500" b="0" dirty="0">
                <a:effectLst/>
                <a:latin typeface="Source Sans Pro" panose="020B0503030403020204" pitchFamily="34" charset="0"/>
                <a:ea typeface="Source Sans Pro" panose="020B0503030403020204" pitchFamily="34" charset="0"/>
              </a:rPr>
              <a:t>, and the LASIGE Research Unit, ref. UID/00408/2025.</a:t>
            </a:r>
          </a:p>
          <a:p>
            <a:pPr marL="0" marR="0" lvl="0" indent="0" algn="just" rtl="0">
              <a:spcBef>
                <a:spcPts val="0"/>
              </a:spcBef>
              <a:spcAft>
                <a:spcPts val="0"/>
              </a:spcAft>
              <a:buNone/>
            </a:pPr>
            <a:r>
              <a:rPr lang="en-GB" sz="1500" b="0" dirty="0">
                <a:effectLst/>
                <a:latin typeface="Source Sans Pro" panose="020B0503030403020204" pitchFamily="34" charset="0"/>
                <a:ea typeface="Source Sans Pro" panose="020B0503030403020204" pitchFamily="34" charset="0"/>
              </a:rPr>
              <a:t> </a:t>
            </a:r>
          </a:p>
          <a:p>
            <a:pPr marL="0" marR="0" lvl="0" indent="0" algn="just" rtl="0">
              <a:spcBef>
                <a:spcPts val="0"/>
              </a:spcBef>
              <a:spcAft>
                <a:spcPts val="0"/>
              </a:spcAft>
              <a:buNone/>
            </a:pPr>
            <a:r>
              <a:rPr lang="en-GB" sz="1500" b="0" dirty="0">
                <a:effectLst/>
                <a:latin typeface="Source Sans Pro" panose="020B0503030403020204" pitchFamily="34" charset="0"/>
                <a:ea typeface="Source Sans Pro" panose="020B0503030403020204" pitchFamily="34" charset="0"/>
              </a:rPr>
              <a:t>It is also partially supported by the KATY project which has received funding from the European Union’s Horizon 2020 research and innovation program under grant agreement No 101017453.</a:t>
            </a:r>
            <a:endParaRPr lang="en-US" sz="15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534900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TotalTime>
  <Words>1313</Words>
  <Application>Microsoft Office PowerPoint</Application>
  <PresentationFormat>Widescreen</PresentationFormat>
  <Paragraphs>113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 de Oliveira Lopes Henchman Balbi</dc:creator>
  <cp:lastModifiedBy>Laura de Oliveira Lopes Henchman Balbi</cp:lastModifiedBy>
  <cp:revision>62</cp:revision>
  <dcterms:created xsi:type="dcterms:W3CDTF">2025-07-09T13:44:30Z</dcterms:created>
  <dcterms:modified xsi:type="dcterms:W3CDTF">2025-07-11T14:11:42Z</dcterms:modified>
</cp:coreProperties>
</file>